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notesSlides/notesSlide12.xml" ContentType="application/vnd.openxmlformats-officedocument.presentationml.notesSlide+xml"/>
  <Override PartName="/ppt/charts/chart8.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15233C"/>
              </a:solidFill>
              <a:effectLst/>
            </c:spPr>
            <c:extLst>
              <c:ext xmlns:c16="http://schemas.microsoft.com/office/drawing/2014/chart" uri="{C3380CC4-5D6E-409C-BE32-E72D297353CC}">
                <c16:uniqueId val="{00000001-BA2A-4474-9CBE-1B36D0828EE9}"/>
              </c:ext>
            </c:extLst>
          </c:dPt>
          <c:dPt>
            <c:idx val="1"/>
            <c:bubble3D val="0"/>
            <c:spPr>
              <a:solidFill>
                <a:srgbClr val="F26B3A"/>
              </a:solidFill>
              <a:effectLst/>
            </c:spPr>
            <c:extLst>
              <c:ext xmlns:c16="http://schemas.microsoft.com/office/drawing/2014/chart" uri="{C3380CC4-5D6E-409C-BE32-E72D297353CC}">
                <c16:uniqueId val="{00000003-BA2A-4474-9CBE-1B36D0828EE9}"/>
              </c:ext>
            </c:extLst>
          </c:dPt>
          <c:dPt>
            <c:idx val="2"/>
            <c:bubble3D val="0"/>
            <c:spPr>
              <a:solidFill>
                <a:srgbClr val="CBD3E0"/>
              </a:solidFill>
              <a:effectLst/>
            </c:spPr>
            <c:extLst>
              <c:ext xmlns:c16="http://schemas.microsoft.com/office/drawing/2014/chart" uri="{C3380CC4-5D6E-409C-BE32-E72D297353CC}">
                <c16:uniqueId val="{00000005-BA2A-4474-9CBE-1B36D0828EE9}"/>
              </c:ext>
            </c:extLst>
          </c:dPt>
          <c:dLbls>
            <c:dLbl>
              <c:idx val="0"/>
              <c:numFmt formatCode="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A2A-4474-9CBE-1B36D0828EE9}"/>
                </c:ext>
              </c:extLst>
            </c:dLbl>
            <c:dLbl>
              <c:idx val="1"/>
              <c:numFmt formatCode="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2A-4474-9CBE-1B36D0828EE9}"/>
                </c:ext>
              </c:extLst>
            </c:dLbl>
            <c:dLbl>
              <c:idx val="2"/>
              <c:numFmt formatCode="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A2A-4474-9CBE-1B36D0828EE9}"/>
                </c:ext>
              </c:extLst>
            </c:dLbl>
            <c:numFmt formatCode="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Male</c:v>
                </c:pt>
                <c:pt idx="1">
                  <c:v>Female</c:v>
                </c:pt>
                <c:pt idx="2">
                  <c:v>Unknown</c:v>
                </c:pt>
              </c:strCache>
            </c:strRef>
          </c:cat>
          <c:val>
            <c:numRef>
              <c:f>Sheet1!$B$2:$B$4</c:f>
              <c:numCache>
                <c:formatCode>General</c:formatCode>
                <c:ptCount val="3"/>
                <c:pt idx="0">
                  <c:v>84.9</c:v>
                </c:pt>
                <c:pt idx="1">
                  <c:v>11.1</c:v>
                </c:pt>
                <c:pt idx="2">
                  <c:v>4</c:v>
                </c:pt>
              </c:numCache>
            </c:numRef>
          </c:val>
          <c:extLst>
            <c:ext xmlns:c16="http://schemas.microsoft.com/office/drawing/2014/chart" uri="{C3380CC4-5D6E-409C-BE32-E72D297353CC}">
              <c16:uniqueId val="{00000006-BA2A-4474-9CBE-1B36D0828EE9}"/>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000">
              <a:solidFill>
                <a:srgbClr val="2B3444"/>
              </a:solidFill>
              <a:latin typeface="Montserrat"/>
              <a:cs typeface="Montserra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c:v>
                </c:pt>
              </c:strCache>
            </c:strRef>
          </c:tx>
          <c:spPr>
            <a:solidFill>
              <a:srgbClr val="F26B3A"/>
            </a:solidFill>
            <a:effectLst/>
          </c:spPr>
          <c:invertIfNegative val="0"/>
          <c:dLbls>
            <c:numFmt formatCode="0.0&quot;%&quot;" sourceLinked="0"/>
            <c:spPr>
              <a:noFill/>
              <a:ln>
                <a:noFill/>
              </a:ln>
              <a:effectLst/>
            </c:spPr>
            <c:txPr>
              <a:bodyPr/>
              <a:lstStyle/>
              <a:p>
                <a:pPr>
                  <a:defRPr sz="1000" b="0" i="0" u="none" strike="noStrike">
                    <a:solidFill>
                      <a:srgbClr val="0F172A"/>
                    </a:solidFill>
                    <a:latin typeface="Montserra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Young Adult</c:v>
                </c:pt>
                <c:pt idx="1">
                  <c:v>Adult</c:v>
                </c:pt>
                <c:pt idx="2">
                  <c:v>Senior</c:v>
                </c:pt>
                <c:pt idx="3">
                  <c:v>Teenager</c:v>
                </c:pt>
              </c:strCache>
            </c:strRef>
          </c:cat>
          <c:val>
            <c:numRef>
              <c:f>Sheet1!$B$2:$B$5</c:f>
              <c:numCache>
                <c:formatCode>General</c:formatCode>
                <c:ptCount val="4"/>
                <c:pt idx="0">
                  <c:v>67.3</c:v>
                </c:pt>
                <c:pt idx="1">
                  <c:v>22.8</c:v>
                </c:pt>
                <c:pt idx="2">
                  <c:v>6</c:v>
                </c:pt>
                <c:pt idx="3">
                  <c:v>3.9</c:v>
                </c:pt>
              </c:numCache>
            </c:numRef>
          </c:val>
          <c:extLst>
            <c:ext xmlns:c16="http://schemas.microsoft.com/office/drawing/2014/chart" uri="{C3380CC4-5D6E-409C-BE32-E72D297353CC}">
              <c16:uniqueId val="{00000000-C03E-4A99-90BD-1BC0B784F69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3444"/>
                </a:solidFill>
                <a:latin typeface="Montserrat"/>
              </a:defRPr>
            </a:pPr>
            <a:endParaRPr lang="en-US"/>
          </a:p>
        </c:txPr>
        <c:crossAx val="2094734552"/>
        <c:crosses val="autoZero"/>
        <c:auto val="1"/>
        <c:lblAlgn val="ctr"/>
        <c:lblOffset val="100"/>
        <c:noMultiLvlLbl val="1"/>
      </c:catAx>
      <c:valAx>
        <c:axId val="2094734552"/>
        <c:scaling>
          <c:orientation val="minMax"/>
          <c:max val="80"/>
        </c:scaling>
        <c:delete val="0"/>
        <c:axPos val="b"/>
        <c:majorGridlines>
          <c:spPr>
            <a:ln w="6350" cap="flat">
              <a:solidFill>
                <a:srgbClr val="E2E6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ontserrat"/>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Min/user</c:v>
                </c:pt>
              </c:strCache>
            </c:strRef>
          </c:tx>
          <c:spPr>
            <a:solidFill>
              <a:srgbClr val="15233C"/>
            </a:solidFill>
            <a:effectLst/>
          </c:spPr>
          <c:invertIfNegative val="0"/>
          <c:dLbls>
            <c:numFmt formatCode="0.0&quot; min&quot;" sourceLinked="0"/>
            <c:spPr>
              <a:noFill/>
              <a:ln>
                <a:noFill/>
              </a:ln>
              <a:effectLst/>
            </c:spPr>
            <c:txPr>
              <a:bodyPr/>
              <a:lstStyle/>
              <a:p>
                <a:pPr>
                  <a:defRPr sz="1000" b="0" i="0" u="none" strike="noStrike">
                    <a:solidFill>
                      <a:srgbClr val="0F172A"/>
                    </a:solidFill>
                    <a:latin typeface="Montserra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Indian / Asian</c:v>
                </c:pt>
                <c:pt idx="1">
                  <c:v>Coloured</c:v>
                </c:pt>
                <c:pt idx="2">
                  <c:v>Black</c:v>
                </c:pt>
                <c:pt idx="3">
                  <c:v>Other</c:v>
                </c:pt>
                <c:pt idx="4">
                  <c:v>White</c:v>
                </c:pt>
              </c:strCache>
            </c:strRef>
          </c:cat>
          <c:val>
            <c:numRef>
              <c:f>Sheet1!$B$2:$B$6</c:f>
              <c:numCache>
                <c:formatCode>General</c:formatCode>
                <c:ptCount val="5"/>
                <c:pt idx="0">
                  <c:v>27.7</c:v>
                </c:pt>
                <c:pt idx="1">
                  <c:v>22.5</c:v>
                </c:pt>
                <c:pt idx="2">
                  <c:v>20.8</c:v>
                </c:pt>
                <c:pt idx="3">
                  <c:v>18.600000000000001</c:v>
                </c:pt>
                <c:pt idx="4">
                  <c:v>14.9</c:v>
                </c:pt>
              </c:numCache>
            </c:numRef>
          </c:val>
          <c:extLst>
            <c:ext xmlns:c16="http://schemas.microsoft.com/office/drawing/2014/chart" uri="{C3380CC4-5D6E-409C-BE32-E72D297353CC}">
              <c16:uniqueId val="{00000000-1182-45AB-8703-89315AB120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3444"/>
                </a:solidFill>
                <a:latin typeface="Montserrat"/>
              </a:defRPr>
            </a:pPr>
            <a:endParaRPr lang="en-US"/>
          </a:p>
        </c:txPr>
        <c:crossAx val="2094734552"/>
        <c:crosses val="autoZero"/>
        <c:auto val="1"/>
        <c:lblAlgn val="ctr"/>
        <c:lblOffset val="100"/>
        <c:noMultiLvlLbl val="1"/>
      </c:catAx>
      <c:valAx>
        <c:axId val="2094734552"/>
        <c:scaling>
          <c:orientation val="minMax"/>
          <c:max val="35"/>
        </c:scaling>
        <c:delete val="0"/>
        <c:axPos val="b"/>
        <c:majorGridlines>
          <c:spPr>
            <a:ln w="6350" cap="flat">
              <a:solidFill>
                <a:srgbClr val="E2E6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ontserrat"/>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Users</c:v>
                </c:pt>
              </c:strCache>
            </c:strRef>
          </c:tx>
          <c:spPr>
            <a:solidFill>
              <a:srgbClr val="F26B3A"/>
            </a:solidFill>
            <a:effectLst/>
          </c:spPr>
          <c:invertIfNegative val="0"/>
          <c:dPt>
            <c:idx val="0"/>
            <c:invertIfNegative val="0"/>
            <c:bubble3D val="0"/>
            <c:extLst>
              <c:ext xmlns:c16="http://schemas.microsoft.com/office/drawing/2014/chart" uri="{C3380CC4-5D6E-409C-BE32-E72D297353CC}">
                <c16:uniqueId val="{00000001-AFF1-48E7-928C-38A8C2FE0A25}"/>
              </c:ext>
            </c:extLst>
          </c:dPt>
          <c:dPt>
            <c:idx val="1"/>
            <c:invertIfNegative val="0"/>
            <c:bubble3D val="0"/>
            <c:spPr>
              <a:solidFill>
                <a:srgbClr val="15233C"/>
              </a:solidFill>
              <a:effectLst/>
            </c:spPr>
            <c:extLst>
              <c:ext xmlns:c16="http://schemas.microsoft.com/office/drawing/2014/chart" uri="{C3380CC4-5D6E-409C-BE32-E72D297353CC}">
                <c16:uniqueId val="{00000003-AFF1-48E7-928C-38A8C2FE0A25}"/>
              </c:ext>
            </c:extLst>
          </c:dPt>
          <c:dPt>
            <c:idx val="2"/>
            <c:invertIfNegative val="0"/>
            <c:bubble3D val="0"/>
            <c:spPr>
              <a:solidFill>
                <a:srgbClr val="15233C"/>
              </a:solidFill>
              <a:effectLst/>
            </c:spPr>
            <c:extLst>
              <c:ext xmlns:c16="http://schemas.microsoft.com/office/drawing/2014/chart" uri="{C3380CC4-5D6E-409C-BE32-E72D297353CC}">
                <c16:uniqueId val="{00000005-AFF1-48E7-928C-38A8C2FE0A25}"/>
              </c:ext>
            </c:extLst>
          </c:dPt>
          <c:dPt>
            <c:idx val="3"/>
            <c:invertIfNegative val="0"/>
            <c:bubble3D val="0"/>
            <c:spPr>
              <a:solidFill>
                <a:srgbClr val="15233C"/>
              </a:solidFill>
              <a:effectLst/>
            </c:spPr>
            <c:extLst>
              <c:ext xmlns:c16="http://schemas.microsoft.com/office/drawing/2014/chart" uri="{C3380CC4-5D6E-409C-BE32-E72D297353CC}">
                <c16:uniqueId val="{00000007-AFF1-48E7-928C-38A8C2FE0A25}"/>
              </c:ext>
            </c:extLst>
          </c:dPt>
          <c:dLbls>
            <c:numFmt formatCode="0.0&quot;%&quot;" sourceLinked="0"/>
            <c:spPr>
              <a:noFill/>
              <a:ln>
                <a:noFill/>
              </a:ln>
              <a:effectLst/>
            </c:spPr>
            <c:txPr>
              <a:bodyPr/>
              <a:lstStyle/>
              <a:p>
                <a:pPr>
                  <a:defRPr sz="1100" b="0" i="0" u="none" strike="noStrike">
                    <a:solidFill>
                      <a:srgbClr val="0F172A"/>
                    </a:solidFill>
                    <a:latin typeface="Montserra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1 session</c:v>
                </c:pt>
                <c:pt idx="1">
                  <c:v>2–3 sessions</c:v>
                </c:pt>
                <c:pt idx="2">
                  <c:v>4–10 sessions</c:v>
                </c:pt>
                <c:pt idx="3">
                  <c:v>11+ sessions</c:v>
                </c:pt>
              </c:strCache>
            </c:strRef>
          </c:cat>
          <c:val>
            <c:numRef>
              <c:f>Sheet1!$B$2:$B$5</c:f>
              <c:numCache>
                <c:formatCode>General</c:formatCode>
                <c:ptCount val="4"/>
                <c:pt idx="0">
                  <c:v>51.3</c:v>
                </c:pt>
                <c:pt idx="1">
                  <c:v>33</c:v>
                </c:pt>
                <c:pt idx="2">
                  <c:v>14.5</c:v>
                </c:pt>
                <c:pt idx="3">
                  <c:v>1.3</c:v>
                </c:pt>
              </c:numCache>
            </c:numRef>
          </c:val>
          <c:extLst>
            <c:ext xmlns:c16="http://schemas.microsoft.com/office/drawing/2014/chart" uri="{C3380CC4-5D6E-409C-BE32-E72D297353CC}">
              <c16:uniqueId val="{00000008-AFF1-48E7-928C-38A8C2FE0A2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3444"/>
                </a:solidFill>
                <a:latin typeface="Montserrat"/>
              </a:defRPr>
            </a:pPr>
            <a:endParaRPr lang="en-US"/>
          </a:p>
        </c:txPr>
        <c:crossAx val="2094734552"/>
        <c:crosses val="autoZero"/>
        <c:auto val="1"/>
        <c:lblAlgn val="ctr"/>
        <c:lblOffset val="100"/>
        <c:noMultiLvlLbl val="1"/>
      </c:catAx>
      <c:valAx>
        <c:axId val="2094734552"/>
        <c:scaling>
          <c:orientation val="minMax"/>
          <c:max val="60"/>
        </c:scaling>
        <c:delete val="0"/>
        <c:axPos val="l"/>
        <c:majorGridlines>
          <c:spPr>
            <a:ln w="6350" cap="flat">
              <a:solidFill>
                <a:srgbClr val="E2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ontserrat"/>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Minutes</c:v>
                </c:pt>
              </c:strCache>
            </c:strRef>
          </c:tx>
          <c:spPr>
            <a:solidFill>
              <a:srgbClr val="F26B3A">
                <a:alpha val="35000"/>
              </a:srgbClr>
            </a:solidFill>
            <a:effectLst/>
          </c:spP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1552</c:v>
                </c:pt>
                <c:pt idx="1">
                  <c:v>632</c:v>
                </c:pt>
                <c:pt idx="2">
                  <c:v>1314</c:v>
                </c:pt>
                <c:pt idx="3">
                  <c:v>603</c:v>
                </c:pt>
                <c:pt idx="4">
                  <c:v>503</c:v>
                </c:pt>
                <c:pt idx="5">
                  <c:v>593</c:v>
                </c:pt>
                <c:pt idx="6">
                  <c:v>1313</c:v>
                </c:pt>
                <c:pt idx="7">
                  <c:v>2039</c:v>
                </c:pt>
                <c:pt idx="8">
                  <c:v>2861</c:v>
                </c:pt>
                <c:pt idx="9">
                  <c:v>2941</c:v>
                </c:pt>
                <c:pt idx="10">
                  <c:v>4735</c:v>
                </c:pt>
                <c:pt idx="11">
                  <c:v>5391</c:v>
                </c:pt>
                <c:pt idx="12">
                  <c:v>6721</c:v>
                </c:pt>
                <c:pt idx="13">
                  <c:v>5778</c:v>
                </c:pt>
                <c:pt idx="14">
                  <c:v>7052</c:v>
                </c:pt>
                <c:pt idx="15">
                  <c:v>6159</c:v>
                </c:pt>
                <c:pt idx="16">
                  <c:v>7103</c:v>
                </c:pt>
                <c:pt idx="17">
                  <c:v>7621</c:v>
                </c:pt>
                <c:pt idx="18">
                  <c:v>5892</c:v>
                </c:pt>
                <c:pt idx="19">
                  <c:v>5023</c:v>
                </c:pt>
                <c:pt idx="20">
                  <c:v>4421</c:v>
                </c:pt>
                <c:pt idx="21">
                  <c:v>4076</c:v>
                </c:pt>
                <c:pt idx="22">
                  <c:v>3837</c:v>
                </c:pt>
                <c:pt idx="23">
                  <c:v>3183</c:v>
                </c:pt>
              </c:numCache>
            </c:numRef>
          </c:val>
          <c:extLst>
            <c:ext xmlns:c16="http://schemas.microsoft.com/office/drawing/2014/chart" uri="{C3380CC4-5D6E-409C-BE32-E72D297353CC}">
              <c16:uniqueId val="{00000000-7544-4542-972D-AB2FE40A8C57}"/>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ontserra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ontserrat"/>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Min</c:v>
                </c:pt>
              </c:strCache>
            </c:strRef>
          </c:tx>
          <c:spPr>
            <a:solidFill>
              <a:srgbClr val="F26B3A"/>
            </a:solidFill>
            <a:effectLst/>
          </c:spPr>
          <c:invertIfNegative val="0"/>
          <c:dPt>
            <c:idx val="0"/>
            <c:invertIfNegative val="0"/>
            <c:bubble3D val="0"/>
            <c:extLst>
              <c:ext xmlns:c16="http://schemas.microsoft.com/office/drawing/2014/chart" uri="{C3380CC4-5D6E-409C-BE32-E72D297353CC}">
                <c16:uniqueId val="{00000001-BC85-4DC9-9D18-6AA015FDDEF6}"/>
              </c:ext>
            </c:extLst>
          </c:dPt>
          <c:dPt>
            <c:idx val="1"/>
            <c:invertIfNegative val="0"/>
            <c:bubble3D val="0"/>
            <c:spPr>
              <a:solidFill>
                <a:srgbClr val="15233C"/>
              </a:solidFill>
              <a:effectLst/>
            </c:spPr>
            <c:extLst>
              <c:ext xmlns:c16="http://schemas.microsoft.com/office/drawing/2014/chart" uri="{C3380CC4-5D6E-409C-BE32-E72D297353CC}">
                <c16:uniqueId val="{00000003-BC85-4DC9-9D18-6AA015FDDEF6}"/>
              </c:ext>
            </c:extLst>
          </c:dPt>
          <c:dPt>
            <c:idx val="2"/>
            <c:invertIfNegative val="0"/>
            <c:bubble3D val="0"/>
            <c:spPr>
              <a:solidFill>
                <a:srgbClr val="15233C"/>
              </a:solidFill>
              <a:effectLst/>
            </c:spPr>
            <c:extLst>
              <c:ext xmlns:c16="http://schemas.microsoft.com/office/drawing/2014/chart" uri="{C3380CC4-5D6E-409C-BE32-E72D297353CC}">
                <c16:uniqueId val="{00000005-BC85-4DC9-9D18-6AA015FDDEF6}"/>
              </c:ext>
            </c:extLst>
          </c:dPt>
          <c:dPt>
            <c:idx val="3"/>
            <c:invertIfNegative val="0"/>
            <c:bubble3D val="0"/>
            <c:spPr>
              <a:solidFill>
                <a:srgbClr val="15233C"/>
              </a:solidFill>
              <a:effectLst/>
            </c:spPr>
            <c:extLst>
              <c:ext xmlns:c16="http://schemas.microsoft.com/office/drawing/2014/chart" uri="{C3380CC4-5D6E-409C-BE32-E72D297353CC}">
                <c16:uniqueId val="{00000007-BC85-4DC9-9D18-6AA015FDDEF6}"/>
              </c:ext>
            </c:extLst>
          </c:dPt>
          <c:dPt>
            <c:idx val="4"/>
            <c:invertIfNegative val="0"/>
            <c:bubble3D val="0"/>
            <c:spPr>
              <a:solidFill>
                <a:srgbClr val="15233C"/>
              </a:solidFill>
              <a:effectLst/>
            </c:spPr>
            <c:extLst>
              <c:ext xmlns:c16="http://schemas.microsoft.com/office/drawing/2014/chart" uri="{C3380CC4-5D6E-409C-BE32-E72D297353CC}">
                <c16:uniqueId val="{00000009-BC85-4DC9-9D18-6AA015FDDEF6}"/>
              </c:ext>
            </c:extLst>
          </c:dPt>
          <c:dPt>
            <c:idx val="5"/>
            <c:invertIfNegative val="0"/>
            <c:bubble3D val="0"/>
            <c:spPr>
              <a:solidFill>
                <a:srgbClr val="15233C"/>
              </a:solidFill>
              <a:effectLst/>
            </c:spPr>
            <c:extLst>
              <c:ext xmlns:c16="http://schemas.microsoft.com/office/drawing/2014/chart" uri="{C3380CC4-5D6E-409C-BE32-E72D297353CC}">
                <c16:uniqueId val="{0000000B-BC85-4DC9-9D18-6AA015FDDEF6}"/>
              </c:ext>
            </c:extLst>
          </c:dPt>
          <c:dPt>
            <c:idx val="6"/>
            <c:invertIfNegative val="0"/>
            <c:bubble3D val="0"/>
            <c:spPr>
              <a:solidFill>
                <a:srgbClr val="15233C"/>
              </a:solidFill>
              <a:effectLst/>
            </c:spPr>
            <c:extLst>
              <c:ext xmlns:c16="http://schemas.microsoft.com/office/drawing/2014/chart" uri="{C3380CC4-5D6E-409C-BE32-E72D297353CC}">
                <c16:uniqueId val="{0000000D-BC85-4DC9-9D18-6AA015FDDEF6}"/>
              </c:ext>
            </c:extLst>
          </c:dPt>
          <c:dLbls>
            <c:numFmt formatCode="#,##0" sourceLinked="0"/>
            <c:spPr>
              <a:noFill/>
              <a:ln>
                <a:noFill/>
              </a:ln>
              <a:effectLst/>
            </c:spPr>
            <c:txPr>
              <a:bodyPr/>
              <a:lstStyle/>
              <a:p>
                <a:pPr>
                  <a:defRPr sz="900" b="0" i="0" u="none" strike="noStrike">
                    <a:solidFill>
                      <a:srgbClr val="0F172A"/>
                    </a:solidFill>
                    <a:latin typeface="Montserra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6894</c:v>
                </c:pt>
                <c:pt idx="1">
                  <c:v>11933</c:v>
                </c:pt>
                <c:pt idx="2">
                  <c:v>14048</c:v>
                </c:pt>
                <c:pt idx="3">
                  <c:v>13936</c:v>
                </c:pt>
                <c:pt idx="4">
                  <c:v>15076</c:v>
                </c:pt>
                <c:pt idx="5">
                  <c:v>17762</c:v>
                </c:pt>
                <c:pt idx="6">
                  <c:v>11693</c:v>
                </c:pt>
              </c:numCache>
            </c:numRef>
          </c:val>
          <c:extLst>
            <c:ext xmlns:c16="http://schemas.microsoft.com/office/drawing/2014/chart" uri="{C3380CC4-5D6E-409C-BE32-E72D297353CC}">
              <c16:uniqueId val="{0000000E-BC85-4DC9-9D18-6AA015FDDEF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3444"/>
                </a:solidFill>
                <a:latin typeface="Montserrat"/>
              </a:defRPr>
            </a:pPr>
            <a:endParaRPr lang="en-US"/>
          </a:p>
        </c:txPr>
        <c:crossAx val="2094734552"/>
        <c:crosses val="autoZero"/>
        <c:auto val="1"/>
        <c:lblAlgn val="ctr"/>
        <c:lblOffset val="100"/>
        <c:noMultiLvlLbl val="1"/>
      </c:catAx>
      <c:valAx>
        <c:axId val="2094734552"/>
        <c:scaling>
          <c:orientation val="minMax"/>
          <c:max val="20000"/>
        </c:scaling>
        <c:delete val="0"/>
        <c:axPos val="l"/>
        <c:majorGridlines>
          <c:spPr>
            <a:ln w="6350" cap="flat">
              <a:solidFill>
                <a:srgbClr val="E2E6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ontserrat"/>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Genre</c:v>
                </c:pt>
              </c:strCache>
            </c:strRef>
          </c:tx>
          <c:spPr>
            <a:solidFill>
              <a:schemeClr val="accent1"/>
            </a:solidFill>
            <a:ln w="9525" cap="flat">
              <a:solidFill>
                <a:srgbClr val="F9F9F9"/>
              </a:solidFill>
              <a:prstDash val="solid"/>
              <a:round/>
            </a:ln>
            <a:effectLst/>
          </c:spPr>
          <c:dPt>
            <c:idx val="0"/>
            <c:bubble3D val="0"/>
            <c:spPr>
              <a:solidFill>
                <a:srgbClr val="F26B3A"/>
              </a:solidFill>
              <a:effectLst/>
            </c:spPr>
            <c:extLst>
              <c:ext xmlns:c16="http://schemas.microsoft.com/office/drawing/2014/chart" uri="{C3380CC4-5D6E-409C-BE32-E72D297353CC}">
                <c16:uniqueId val="{00000001-41E0-48C6-914B-44B79CEB1A7A}"/>
              </c:ext>
            </c:extLst>
          </c:dPt>
          <c:dPt>
            <c:idx val="1"/>
            <c:bubble3D val="0"/>
            <c:spPr>
              <a:solidFill>
                <a:srgbClr val="15233C"/>
              </a:solidFill>
              <a:effectLst/>
            </c:spPr>
            <c:extLst>
              <c:ext xmlns:c16="http://schemas.microsoft.com/office/drawing/2014/chart" uri="{C3380CC4-5D6E-409C-BE32-E72D297353CC}">
                <c16:uniqueId val="{00000003-41E0-48C6-914B-44B79CEB1A7A}"/>
              </c:ext>
            </c:extLst>
          </c:dPt>
          <c:dPt>
            <c:idx val="2"/>
            <c:bubble3D val="0"/>
            <c:spPr>
              <a:solidFill>
                <a:srgbClr val="E8B839"/>
              </a:solidFill>
              <a:effectLst/>
            </c:spPr>
            <c:extLst>
              <c:ext xmlns:c16="http://schemas.microsoft.com/office/drawing/2014/chart" uri="{C3380CC4-5D6E-409C-BE32-E72D297353CC}">
                <c16:uniqueId val="{00000005-41E0-48C6-914B-44B79CEB1A7A}"/>
              </c:ext>
            </c:extLst>
          </c:dPt>
          <c:dPt>
            <c:idx val="3"/>
            <c:bubble3D val="0"/>
            <c:spPr>
              <a:solidFill>
                <a:srgbClr val="7B8AA8"/>
              </a:solidFill>
              <a:effectLst/>
            </c:spPr>
            <c:extLst>
              <c:ext xmlns:c16="http://schemas.microsoft.com/office/drawing/2014/chart" uri="{C3380CC4-5D6E-409C-BE32-E72D297353CC}">
                <c16:uniqueId val="{00000007-41E0-48C6-914B-44B79CEB1A7A}"/>
              </c:ext>
            </c:extLst>
          </c:dPt>
          <c:dPt>
            <c:idx val="4"/>
            <c:bubble3D val="0"/>
            <c:spPr>
              <a:solidFill>
                <a:srgbClr val="CBD3E0"/>
              </a:solidFill>
              <a:effectLst/>
            </c:spPr>
            <c:extLst>
              <c:ext xmlns:c16="http://schemas.microsoft.com/office/drawing/2014/chart" uri="{C3380CC4-5D6E-409C-BE32-E72D297353CC}">
                <c16:uniqueId val="{00000009-41E0-48C6-914B-44B79CEB1A7A}"/>
              </c:ext>
            </c:extLst>
          </c:dPt>
          <c:dLbls>
            <c:dLbl>
              <c:idx val="0"/>
              <c:numFmt formatCode="0.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1E0-48C6-914B-44B79CEB1A7A}"/>
                </c:ext>
              </c:extLst>
            </c:dLbl>
            <c:dLbl>
              <c:idx val="1"/>
              <c:numFmt formatCode="0.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1E0-48C6-914B-44B79CEB1A7A}"/>
                </c:ext>
              </c:extLst>
            </c:dLbl>
            <c:dLbl>
              <c:idx val="2"/>
              <c:numFmt formatCode="0.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1E0-48C6-914B-44B79CEB1A7A}"/>
                </c:ext>
              </c:extLst>
            </c:dLbl>
            <c:dLbl>
              <c:idx val="3"/>
              <c:numFmt formatCode="0.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1E0-48C6-914B-44B79CEB1A7A}"/>
                </c:ext>
              </c:extLst>
            </c:dLbl>
            <c:dLbl>
              <c:idx val="4"/>
              <c:numFmt formatCode="0.0&quot;%&quot;" sourceLinked="0"/>
              <c:spPr/>
              <c:txPr>
                <a:bodyPr/>
                <a:lstStyle/>
                <a:p>
                  <a:pPr>
                    <a:defRPr sz="1000" b="0" i="0" u="none" strike="noStrike">
                      <a:solidFill>
                        <a:srgbClr val="FFFFFF"/>
                      </a:solidFill>
                      <a:latin typeface="Montserra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1E0-48C6-914B-44B79CEB1A7A}"/>
                </c:ext>
              </c:extLst>
            </c:dLbl>
            <c:numFmt formatCode="0.0&quot;%&quot;"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Sport</c:v>
                </c:pt>
                <c:pt idx="1">
                  <c:v>Music</c:v>
                </c:pt>
                <c:pt idx="2">
                  <c:v>Kids</c:v>
                </c:pt>
                <c:pt idx="3">
                  <c:v>Entertainment</c:v>
                </c:pt>
                <c:pt idx="4">
                  <c:v>News</c:v>
                </c:pt>
              </c:strCache>
            </c:strRef>
          </c:cat>
          <c:val>
            <c:numRef>
              <c:f>Sheet1!$B$2:$B$6</c:f>
              <c:numCache>
                <c:formatCode>General</c:formatCode>
                <c:ptCount val="5"/>
                <c:pt idx="0">
                  <c:v>53.6</c:v>
                </c:pt>
                <c:pt idx="1">
                  <c:v>25.2</c:v>
                </c:pt>
                <c:pt idx="2">
                  <c:v>9.4</c:v>
                </c:pt>
                <c:pt idx="3">
                  <c:v>7.2</c:v>
                </c:pt>
                <c:pt idx="4">
                  <c:v>4.5</c:v>
                </c:pt>
              </c:numCache>
            </c:numRef>
          </c:val>
          <c:extLst>
            <c:ext xmlns:c16="http://schemas.microsoft.com/office/drawing/2014/chart" uri="{C3380CC4-5D6E-409C-BE32-E72D297353CC}">
              <c16:uniqueId val="{0000000A-41E0-48C6-914B-44B79CEB1A7A}"/>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solidFill>
                <a:srgbClr val="2B3444"/>
              </a:solidFill>
              <a:latin typeface="Montserrat"/>
              <a:cs typeface="Montserra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Minutes</c:v>
                </c:pt>
              </c:strCache>
            </c:strRef>
          </c:tx>
          <c:spPr>
            <a:solidFill>
              <a:srgbClr val="F26B3A"/>
            </a:solidFill>
            <a:effectLst/>
          </c:spPr>
          <c:invertIfNegative val="0"/>
          <c:dLbls>
            <c:numFmt formatCode="#,##0" sourceLinked="0"/>
            <c:spPr>
              <a:noFill/>
              <a:ln>
                <a:noFill/>
              </a:ln>
              <a:effectLst/>
            </c:spPr>
            <c:txPr>
              <a:bodyPr/>
              <a:lstStyle/>
              <a:p>
                <a:pPr>
                  <a:defRPr sz="1000" b="0" i="0" u="none" strike="noStrike">
                    <a:solidFill>
                      <a:srgbClr val="0F172A"/>
                    </a:solidFill>
                    <a:latin typeface="Montserra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ICC Cricket World Cup</c:v>
                </c:pt>
                <c:pt idx="1">
                  <c:v>SuperSport Live Events</c:v>
                </c:pt>
                <c:pt idx="2">
                  <c:v>Channel O</c:v>
                </c:pt>
                <c:pt idx="3">
                  <c:v>Trace TV</c:v>
                </c:pt>
                <c:pt idx="4">
                  <c:v>SuperSport Blitz</c:v>
                </c:pt>
                <c:pt idx="5">
                  <c:v>Boomerang</c:v>
                </c:pt>
                <c:pt idx="6">
                  <c:v>Cartoon Network</c:v>
                </c:pt>
                <c:pt idx="7">
                  <c:v>CNN</c:v>
                </c:pt>
                <c:pt idx="8">
                  <c:v>Africa Magic</c:v>
                </c:pt>
                <c:pt idx="9">
                  <c:v>E! Entertainment</c:v>
                </c:pt>
              </c:strCache>
            </c:strRef>
          </c:cat>
          <c:val>
            <c:numRef>
              <c:f>Sheet1!$B$2:$B$11</c:f>
              <c:numCache>
                <c:formatCode>General</c:formatCode>
                <c:ptCount val="10"/>
                <c:pt idx="0">
                  <c:v>24728</c:v>
                </c:pt>
                <c:pt idx="1">
                  <c:v>18790</c:v>
                </c:pt>
                <c:pt idx="2">
                  <c:v>11526</c:v>
                </c:pt>
                <c:pt idx="3">
                  <c:v>11515</c:v>
                </c:pt>
                <c:pt idx="4">
                  <c:v>5441</c:v>
                </c:pt>
                <c:pt idx="5">
                  <c:v>4396</c:v>
                </c:pt>
                <c:pt idx="6">
                  <c:v>4215</c:v>
                </c:pt>
                <c:pt idx="7">
                  <c:v>4067</c:v>
                </c:pt>
                <c:pt idx="8">
                  <c:v>2927</c:v>
                </c:pt>
                <c:pt idx="9">
                  <c:v>2219</c:v>
                </c:pt>
              </c:numCache>
            </c:numRef>
          </c:val>
          <c:extLst>
            <c:ext xmlns:c16="http://schemas.microsoft.com/office/drawing/2014/chart" uri="{C3380CC4-5D6E-409C-BE32-E72D297353CC}">
              <c16:uniqueId val="{00000000-D517-4D42-8DC0-27400204426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2B3444"/>
                </a:solidFill>
                <a:latin typeface="Montserra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6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ontserrat"/>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1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7"/>
        </a:solidFill>
        <a:effectLst/>
      </p:bgPr>
    </p:bg>
    <p:spTree>
      <p:nvGrpSpPr>
        <p:cNvPr id="1" name=""/>
        <p:cNvGrpSpPr/>
        <p:nvPr/>
      </p:nvGrpSpPr>
      <p:grpSpPr>
        <a:xfrm>
          <a:off x="0" y="0"/>
          <a:ext cx="0" cy="0"/>
          <a:chOff x="0" y="0"/>
          <a:chExt cx="0" cy="0"/>
        </a:xfrm>
      </p:grpSpPr>
      <p:sp>
        <p:nvSpPr>
          <p:cNvPr id="2" name="Shape 0"/>
          <p:cNvSpPr/>
          <p:nvPr/>
        </p:nvSpPr>
        <p:spPr>
          <a:xfrm>
            <a:off x="0" y="6217920"/>
            <a:ext cx="2011680" cy="640080"/>
          </a:xfrm>
          <a:prstGeom prst="rect">
            <a:avLst/>
          </a:prstGeom>
          <a:solidFill>
            <a:srgbClr val="F26B3A"/>
          </a:solidFill>
          <a:ln w="12700">
            <a:solidFill>
              <a:srgbClr val="F26B3A"/>
            </a:solidFill>
            <a:prstDash val="solid"/>
          </a:ln>
        </p:spPr>
        <p:txBody>
          <a:bodyPr/>
          <a:lstStyle/>
          <a:p>
            <a:endParaRPr lang="en-ZA"/>
          </a:p>
        </p:txBody>
      </p:sp>
      <p:sp>
        <p:nvSpPr>
          <p:cNvPr id="3" name="Shape 1"/>
          <p:cNvSpPr/>
          <p:nvPr/>
        </p:nvSpPr>
        <p:spPr>
          <a:xfrm>
            <a:off x="2011680" y="6492240"/>
            <a:ext cx="1097280" cy="365760"/>
          </a:xfrm>
          <a:prstGeom prst="rect">
            <a:avLst/>
          </a:prstGeom>
          <a:solidFill>
            <a:srgbClr val="E8B839"/>
          </a:solidFill>
          <a:ln w="12700">
            <a:solidFill>
              <a:srgbClr val="E8B839"/>
            </a:solidFill>
            <a:prstDash val="solid"/>
          </a:ln>
        </p:spPr>
        <p:txBody>
          <a:bodyPr/>
          <a:lstStyle/>
          <a:p>
            <a:endParaRPr lang="en-ZA"/>
          </a:p>
        </p:txBody>
      </p:sp>
      <p:sp>
        <p:nvSpPr>
          <p:cNvPr id="4" name="Text 2"/>
          <p:cNvSpPr/>
          <p:nvPr/>
        </p:nvSpPr>
        <p:spPr>
          <a:xfrm>
            <a:off x="640080" y="1463040"/>
            <a:ext cx="9144000" cy="320040"/>
          </a:xfrm>
          <a:prstGeom prst="rect">
            <a:avLst/>
          </a:prstGeom>
          <a:noFill/>
          <a:ln/>
        </p:spPr>
        <p:txBody>
          <a:bodyPr wrap="square" rtlCol="0" anchor="ctr"/>
          <a:lstStyle/>
          <a:p>
            <a:pPr marL="0" indent="0">
              <a:buNone/>
            </a:pPr>
            <a:r>
              <a:rPr lang="en-US" sz="1100" b="1" kern="0" spc="600" dirty="0">
                <a:solidFill>
                  <a:srgbClr val="F26B3A"/>
                </a:solidFill>
                <a:latin typeface="Montserrat" pitchFamily="34" charset="0"/>
                <a:ea typeface="Montserrat" pitchFamily="34" charset="-122"/>
                <a:cs typeface="Montserrat" pitchFamily="34" charset="-120"/>
              </a:rPr>
              <a:t>A REPORT FOR THE EXECUTIVE COMMITTEE</a:t>
            </a:r>
            <a:endParaRPr lang="en-US" sz="1100" dirty="0"/>
          </a:p>
        </p:txBody>
      </p:sp>
      <p:sp>
        <p:nvSpPr>
          <p:cNvPr id="5" name="Text 3"/>
          <p:cNvSpPr/>
          <p:nvPr/>
        </p:nvSpPr>
        <p:spPr>
          <a:xfrm>
            <a:off x="640080" y="1874520"/>
            <a:ext cx="9144000" cy="640080"/>
          </a:xfrm>
          <a:prstGeom prst="rect">
            <a:avLst/>
          </a:prstGeom>
          <a:noFill/>
          <a:ln/>
        </p:spPr>
        <p:txBody>
          <a:bodyPr wrap="square" lIns="0" tIns="0" rIns="0" bIns="0" rtlCol="0" anchor="ctr"/>
          <a:lstStyle/>
          <a:p>
            <a:pPr marL="0" indent="0">
              <a:buNone/>
            </a:pPr>
            <a:r>
              <a:rPr lang="en-US" sz="2600" b="1" dirty="0">
                <a:solidFill>
                  <a:srgbClr val="FFFFFF"/>
                </a:solidFill>
                <a:latin typeface="Montserrat" pitchFamily="34" charset="0"/>
                <a:ea typeface="Montserrat" pitchFamily="34" charset="-122"/>
                <a:cs typeface="Montserrat" pitchFamily="34" charset="-120"/>
              </a:rPr>
              <a:t>Bright</a:t>
            </a:r>
            <a:r>
              <a:rPr lang="en-US" sz="2600" b="1" dirty="0">
                <a:solidFill>
                  <a:srgbClr val="F26B3A"/>
                </a:solidFill>
                <a:latin typeface="Montserrat" pitchFamily="34" charset="0"/>
                <a:ea typeface="Montserrat" pitchFamily="34" charset="-122"/>
                <a:cs typeface="Montserrat" pitchFamily="34" charset="-120"/>
              </a:rPr>
              <a:t>TV</a:t>
            </a:r>
            <a:endParaRPr lang="en-US" sz="2600" dirty="0"/>
          </a:p>
        </p:txBody>
      </p:sp>
      <p:sp>
        <p:nvSpPr>
          <p:cNvPr id="6" name="Text 4"/>
          <p:cNvSpPr/>
          <p:nvPr/>
        </p:nvSpPr>
        <p:spPr>
          <a:xfrm>
            <a:off x="640080" y="2651760"/>
            <a:ext cx="10972800" cy="1005840"/>
          </a:xfrm>
          <a:prstGeom prst="rect">
            <a:avLst/>
          </a:prstGeom>
          <a:noFill/>
          <a:ln/>
        </p:spPr>
        <p:txBody>
          <a:bodyPr wrap="square" lIns="0" tIns="0" rIns="0" bIns="0" rtlCol="0" anchor="ctr"/>
          <a:lstStyle/>
          <a:p>
            <a:pPr marL="0" indent="0">
              <a:buNone/>
            </a:pPr>
            <a:r>
              <a:rPr lang="en-US" sz="5400" b="1" dirty="0">
                <a:solidFill>
                  <a:srgbClr val="FFFFFF"/>
                </a:solidFill>
                <a:latin typeface="Montserrat" pitchFamily="34" charset="0"/>
                <a:ea typeface="Montserrat" pitchFamily="34" charset="-122"/>
                <a:cs typeface="Montserrat" pitchFamily="34" charset="-120"/>
              </a:rPr>
              <a:t>Viewership Analytics</a:t>
            </a:r>
            <a:endParaRPr lang="en-US" sz="5400" dirty="0"/>
          </a:p>
        </p:txBody>
      </p:sp>
      <p:sp>
        <p:nvSpPr>
          <p:cNvPr id="7" name="Text 5"/>
          <p:cNvSpPr/>
          <p:nvPr/>
        </p:nvSpPr>
        <p:spPr>
          <a:xfrm>
            <a:off x="640080" y="3703320"/>
            <a:ext cx="10972800" cy="502920"/>
          </a:xfrm>
          <a:prstGeom prst="rect">
            <a:avLst/>
          </a:prstGeom>
          <a:noFill/>
          <a:ln/>
        </p:spPr>
        <p:txBody>
          <a:bodyPr wrap="square" lIns="0" tIns="0" rIns="0" bIns="0" rtlCol="0" anchor="ctr"/>
          <a:lstStyle/>
          <a:p>
            <a:pPr marL="0" indent="0">
              <a:buNone/>
            </a:pPr>
            <a:r>
              <a:rPr lang="en-US" sz="2200" dirty="0">
                <a:solidFill>
                  <a:srgbClr val="CBD3E0"/>
                </a:solidFill>
                <a:latin typeface="Montserrat" pitchFamily="34" charset="0"/>
                <a:ea typeface="Montserrat" pitchFamily="34" charset="-122"/>
                <a:cs typeface="Montserrat" pitchFamily="34" charset="-120"/>
              </a:rPr>
              <a:t>Where our audience came from, what they watched,</a:t>
            </a:r>
            <a:endParaRPr lang="en-US" sz="2200" dirty="0"/>
          </a:p>
        </p:txBody>
      </p:sp>
      <p:sp>
        <p:nvSpPr>
          <p:cNvPr id="8" name="Text 6"/>
          <p:cNvSpPr/>
          <p:nvPr/>
        </p:nvSpPr>
        <p:spPr>
          <a:xfrm>
            <a:off x="640080" y="4114800"/>
            <a:ext cx="10972800" cy="502920"/>
          </a:xfrm>
          <a:prstGeom prst="rect">
            <a:avLst/>
          </a:prstGeom>
          <a:noFill/>
          <a:ln/>
        </p:spPr>
        <p:txBody>
          <a:bodyPr wrap="square" lIns="0" tIns="0" rIns="0" bIns="0" rtlCol="0" anchor="ctr"/>
          <a:lstStyle/>
          <a:p>
            <a:pPr marL="0" indent="0">
              <a:buNone/>
            </a:pPr>
            <a:r>
              <a:rPr lang="en-US" sz="2200" i="1" dirty="0">
                <a:solidFill>
                  <a:srgbClr val="CBD3E0"/>
                </a:solidFill>
                <a:latin typeface="Montserrat" pitchFamily="34" charset="0"/>
                <a:ea typeface="Montserrat" pitchFamily="34" charset="-122"/>
                <a:cs typeface="Montserrat" pitchFamily="34" charset="-120"/>
              </a:rPr>
              <a:t>and how to turn them into subscribers.</a:t>
            </a:r>
            <a:endParaRPr lang="en-US" sz="2200" dirty="0"/>
          </a:p>
        </p:txBody>
      </p:sp>
      <p:sp>
        <p:nvSpPr>
          <p:cNvPr id="9" name="Shape 7"/>
          <p:cNvSpPr/>
          <p:nvPr/>
        </p:nvSpPr>
        <p:spPr>
          <a:xfrm>
            <a:off x="640080" y="5349240"/>
            <a:ext cx="1828800" cy="0"/>
          </a:xfrm>
          <a:prstGeom prst="line">
            <a:avLst/>
          </a:prstGeom>
          <a:noFill/>
          <a:ln w="19050">
            <a:solidFill>
              <a:srgbClr val="F26B3A"/>
            </a:solidFill>
            <a:prstDash val="solid"/>
          </a:ln>
        </p:spPr>
        <p:txBody>
          <a:bodyPr/>
          <a:lstStyle/>
          <a:p>
            <a:endParaRPr lang="en-ZA"/>
          </a:p>
        </p:txBody>
      </p:sp>
      <p:sp>
        <p:nvSpPr>
          <p:cNvPr id="10" name="Text 8"/>
          <p:cNvSpPr/>
          <p:nvPr/>
        </p:nvSpPr>
        <p:spPr>
          <a:xfrm>
            <a:off x="640080" y="5440680"/>
            <a:ext cx="7315200" cy="274320"/>
          </a:xfrm>
          <a:prstGeom prst="rect">
            <a:avLst/>
          </a:prstGeom>
          <a:noFill/>
          <a:ln/>
        </p:spPr>
        <p:txBody>
          <a:bodyPr wrap="square" rtlCol="0" anchor="ctr"/>
          <a:lstStyle/>
          <a:p>
            <a:pPr marL="0" indent="0">
              <a:buNone/>
            </a:pPr>
            <a:r>
              <a:rPr lang="en-US" sz="1000" b="1" kern="0" spc="400" dirty="0">
                <a:solidFill>
                  <a:srgbClr val="FFFFFF"/>
                </a:solidFill>
                <a:latin typeface="Montserrat" pitchFamily="34" charset="0"/>
                <a:ea typeface="Montserrat" pitchFamily="34" charset="-122"/>
                <a:cs typeface="Montserrat" pitchFamily="34" charset="-120"/>
              </a:rPr>
              <a:t>PREPARED BY  //  ANALYTICS DIVISION</a:t>
            </a:r>
            <a:endParaRPr lang="en-US" sz="1000" dirty="0"/>
          </a:p>
        </p:txBody>
      </p:sp>
      <p:sp>
        <p:nvSpPr>
          <p:cNvPr id="11" name="Text 9"/>
          <p:cNvSpPr/>
          <p:nvPr/>
        </p:nvSpPr>
        <p:spPr>
          <a:xfrm>
            <a:off x="640080" y="5715000"/>
            <a:ext cx="7315200" cy="274320"/>
          </a:xfrm>
          <a:prstGeom prst="rect">
            <a:avLst/>
          </a:prstGeom>
          <a:noFill/>
          <a:ln/>
        </p:spPr>
        <p:txBody>
          <a:bodyPr wrap="square" rtlCol="0" anchor="ctr"/>
          <a:lstStyle/>
          <a:p>
            <a:pPr marL="0" indent="0">
              <a:buNone/>
            </a:pPr>
            <a:r>
              <a:rPr lang="en-US" sz="1100" dirty="0">
                <a:solidFill>
                  <a:srgbClr val="9BA7BC"/>
                </a:solidFill>
                <a:latin typeface="Montserrat" pitchFamily="34" charset="0"/>
                <a:ea typeface="Montserrat" pitchFamily="34" charset="-122"/>
                <a:cs typeface="Montserrat" pitchFamily="34" charset="-120"/>
              </a:rPr>
              <a:t>For the CVM growth agenda — FY 2016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THE BRIEF</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What the CEO asked us to do</a:t>
            </a:r>
            <a:endParaRPr lang="en-US" sz="2800" dirty="0"/>
          </a:p>
        </p:txBody>
      </p:sp>
      <p:sp>
        <p:nvSpPr>
          <p:cNvPr id="5" name="Shape 3"/>
          <p:cNvSpPr/>
          <p:nvPr/>
        </p:nvSpPr>
        <p:spPr>
          <a:xfrm>
            <a:off x="457200" y="1554480"/>
            <a:ext cx="4754880" cy="4480560"/>
          </a:xfrm>
          <a:prstGeom prst="rect">
            <a:avLst/>
          </a:prstGeom>
          <a:solidFill>
            <a:srgbClr val="15233C"/>
          </a:solidFill>
          <a:ln w="12700">
            <a:solidFill>
              <a:srgbClr val="15233C"/>
            </a:solidFill>
            <a:prstDash val="solid"/>
          </a:ln>
        </p:spPr>
        <p:txBody>
          <a:bodyPr/>
          <a:lstStyle/>
          <a:p>
            <a:endParaRPr lang="en-ZA"/>
          </a:p>
        </p:txBody>
      </p:sp>
      <p:sp>
        <p:nvSpPr>
          <p:cNvPr id="6" name="Text 4"/>
          <p:cNvSpPr/>
          <p:nvPr/>
        </p:nvSpPr>
        <p:spPr>
          <a:xfrm>
            <a:off x="640080" y="1600200"/>
            <a:ext cx="1371600" cy="1097280"/>
          </a:xfrm>
          <a:prstGeom prst="rect">
            <a:avLst/>
          </a:prstGeom>
          <a:noFill/>
          <a:ln/>
        </p:spPr>
        <p:txBody>
          <a:bodyPr wrap="square" lIns="0" tIns="0" rIns="0" bIns="0" rtlCol="0" anchor="ctr"/>
          <a:lstStyle/>
          <a:p>
            <a:pPr marL="0" indent="0">
              <a:buNone/>
            </a:pPr>
            <a:r>
              <a:rPr lang="en-US" sz="9000" b="1" dirty="0">
                <a:solidFill>
                  <a:srgbClr val="F26B3A"/>
                </a:solidFill>
                <a:latin typeface="Georgia" pitchFamily="34" charset="0"/>
                <a:ea typeface="Georgia" pitchFamily="34" charset="-122"/>
                <a:cs typeface="Georgia" pitchFamily="34" charset="-120"/>
              </a:rPr>
              <a:t>“</a:t>
            </a:r>
            <a:endParaRPr lang="en-US" sz="9000" dirty="0"/>
          </a:p>
        </p:txBody>
      </p:sp>
      <p:sp>
        <p:nvSpPr>
          <p:cNvPr id="7" name="Text 5"/>
          <p:cNvSpPr/>
          <p:nvPr/>
        </p:nvSpPr>
        <p:spPr>
          <a:xfrm>
            <a:off x="640080" y="2606040"/>
            <a:ext cx="4389120" cy="1554480"/>
          </a:xfrm>
          <a:prstGeom prst="rect">
            <a:avLst/>
          </a:prstGeom>
          <a:noFill/>
          <a:ln/>
        </p:spPr>
        <p:txBody>
          <a:bodyPr wrap="square" lIns="0" tIns="0" rIns="0" bIns="0" rtlCol="0" anchor="ctr"/>
          <a:lstStyle/>
          <a:p>
            <a:pPr marL="0" indent="0">
              <a:buNone/>
            </a:pPr>
            <a:r>
              <a:rPr lang="en-US" sz="2200" b="1" i="1" dirty="0">
                <a:solidFill>
                  <a:srgbClr val="FFFFFF"/>
                </a:solidFill>
                <a:latin typeface="Montserrat" pitchFamily="34" charset="0"/>
                <a:ea typeface="Montserrat" pitchFamily="34" charset="-122"/>
                <a:cs typeface="Montserrat" pitchFamily="34" charset="-120"/>
              </a:rPr>
              <a:t>Grow the subscription base this financial year.</a:t>
            </a:r>
            <a:endParaRPr lang="en-US" sz="2200" dirty="0"/>
          </a:p>
        </p:txBody>
      </p:sp>
      <p:sp>
        <p:nvSpPr>
          <p:cNvPr id="8" name="Text 6"/>
          <p:cNvSpPr/>
          <p:nvPr/>
        </p:nvSpPr>
        <p:spPr>
          <a:xfrm>
            <a:off x="640080" y="4343400"/>
            <a:ext cx="4389120" cy="1188720"/>
          </a:xfrm>
          <a:prstGeom prst="rect">
            <a:avLst/>
          </a:prstGeom>
          <a:noFill/>
          <a:ln/>
        </p:spPr>
        <p:txBody>
          <a:bodyPr wrap="square" lIns="0" tIns="0" rIns="0" bIns="0" rtlCol="0" anchor="ctr"/>
          <a:lstStyle/>
          <a:p>
            <a:pPr marL="0" indent="0">
              <a:buNone/>
            </a:pPr>
            <a:r>
              <a:rPr lang="en-US" sz="1200" dirty="0">
                <a:solidFill>
                  <a:srgbClr val="CBD3E0"/>
                </a:solidFill>
                <a:latin typeface="Montserrat" pitchFamily="34" charset="0"/>
                <a:ea typeface="Montserrat" pitchFamily="34" charset="-122"/>
                <a:cs typeface="Montserrat" pitchFamily="34" charset="-120"/>
              </a:rPr>
              <a:t>The CEO's instruction to the CVM team set the direction. Our remit was to read the data and tell him where the growth actually sits.</a:t>
            </a:r>
            <a:endParaRPr lang="en-US" sz="1200" dirty="0"/>
          </a:p>
        </p:txBody>
      </p:sp>
      <p:sp>
        <p:nvSpPr>
          <p:cNvPr id="9" name="Text 7"/>
          <p:cNvSpPr/>
          <p:nvPr/>
        </p:nvSpPr>
        <p:spPr>
          <a:xfrm>
            <a:off x="640080" y="5623560"/>
            <a:ext cx="4389120" cy="274320"/>
          </a:xfrm>
          <a:prstGeom prst="rect">
            <a:avLst/>
          </a:prstGeom>
          <a:noFill/>
          <a:ln/>
        </p:spPr>
        <p:txBody>
          <a:bodyPr wrap="square" rtlCol="0" anchor="ctr"/>
          <a:lstStyle/>
          <a:p>
            <a:pPr marL="0" indent="0">
              <a:buNone/>
            </a:pPr>
            <a:r>
              <a:rPr lang="en-US" sz="1000" b="1" kern="0" spc="300" dirty="0">
                <a:solidFill>
                  <a:srgbClr val="E8B839"/>
                </a:solidFill>
                <a:latin typeface="Montserrat" pitchFamily="34" charset="0"/>
                <a:ea typeface="Montserrat" pitchFamily="34" charset="-122"/>
                <a:cs typeface="Montserrat" pitchFamily="34" charset="-120"/>
              </a:rPr>
              <a:t>— CEO, BrightTV</a:t>
            </a:r>
            <a:endParaRPr lang="en-US" sz="1000" dirty="0"/>
          </a:p>
        </p:txBody>
      </p:sp>
      <p:sp>
        <p:nvSpPr>
          <p:cNvPr id="10" name="Text 8"/>
          <p:cNvSpPr/>
          <p:nvPr/>
        </p:nvSpPr>
        <p:spPr>
          <a:xfrm>
            <a:off x="5577840" y="1645920"/>
            <a:ext cx="822960" cy="822960"/>
          </a:xfrm>
          <a:prstGeom prst="rect">
            <a:avLst/>
          </a:prstGeom>
          <a:noFill/>
          <a:ln/>
        </p:spPr>
        <p:txBody>
          <a:bodyPr wrap="square" lIns="0" tIns="0" rIns="0" bIns="0" rtlCol="0" anchor="ctr"/>
          <a:lstStyle/>
          <a:p>
            <a:pPr marL="0" indent="0">
              <a:buNone/>
            </a:pPr>
            <a:r>
              <a:rPr lang="en-US" sz="4000" b="1" dirty="0">
                <a:solidFill>
                  <a:srgbClr val="F26B3A"/>
                </a:solidFill>
                <a:latin typeface="Montserrat" pitchFamily="34" charset="0"/>
                <a:ea typeface="Montserrat" pitchFamily="34" charset="-122"/>
                <a:cs typeface="Montserrat" pitchFamily="34" charset="-120"/>
              </a:rPr>
              <a:t>01</a:t>
            </a:r>
            <a:endParaRPr lang="en-US" sz="4000" dirty="0"/>
          </a:p>
        </p:txBody>
      </p:sp>
      <p:sp>
        <p:nvSpPr>
          <p:cNvPr id="11" name="Shape 9"/>
          <p:cNvSpPr/>
          <p:nvPr/>
        </p:nvSpPr>
        <p:spPr>
          <a:xfrm>
            <a:off x="6446520" y="1847088"/>
            <a:ext cx="0" cy="502920"/>
          </a:xfrm>
          <a:prstGeom prst="line">
            <a:avLst/>
          </a:prstGeom>
          <a:noFill/>
          <a:ln w="12700">
            <a:solidFill>
              <a:srgbClr val="E2E6EE"/>
            </a:solidFill>
            <a:prstDash val="solid"/>
          </a:ln>
        </p:spPr>
        <p:txBody>
          <a:bodyPr/>
          <a:lstStyle/>
          <a:p>
            <a:endParaRPr lang="en-ZA"/>
          </a:p>
        </p:txBody>
      </p:sp>
      <p:sp>
        <p:nvSpPr>
          <p:cNvPr id="12" name="Text 10"/>
          <p:cNvSpPr/>
          <p:nvPr/>
        </p:nvSpPr>
        <p:spPr>
          <a:xfrm>
            <a:off x="6629400" y="1847088"/>
            <a:ext cx="5212080" cy="502920"/>
          </a:xfrm>
          <a:prstGeom prst="rect">
            <a:avLst/>
          </a:prstGeom>
          <a:noFill/>
          <a:ln/>
        </p:spPr>
        <p:txBody>
          <a:bodyPr wrap="square" lIns="0" tIns="0" rIns="0" bIns="0" rtlCol="0" anchor="ctr"/>
          <a:lstStyle/>
          <a:p>
            <a:pPr marL="0" indent="0">
              <a:buNone/>
            </a:pPr>
            <a:r>
              <a:rPr lang="en-US" sz="1500" b="1" dirty="0">
                <a:solidFill>
                  <a:srgbClr val="0F172A"/>
                </a:solidFill>
                <a:latin typeface="Montserrat" pitchFamily="34" charset="0"/>
                <a:ea typeface="Montserrat" pitchFamily="34" charset="-122"/>
                <a:cs typeface="Montserrat" pitchFamily="34" charset="-120"/>
              </a:rPr>
              <a:t>Who is watching and how are they behaving?</a:t>
            </a:r>
            <a:endParaRPr lang="en-US" sz="1500" dirty="0"/>
          </a:p>
        </p:txBody>
      </p:sp>
      <p:sp>
        <p:nvSpPr>
          <p:cNvPr id="13" name="Text 11"/>
          <p:cNvSpPr/>
          <p:nvPr/>
        </p:nvSpPr>
        <p:spPr>
          <a:xfrm>
            <a:off x="6629400" y="2331720"/>
            <a:ext cx="5212080" cy="274320"/>
          </a:xfrm>
          <a:prstGeom prst="rect">
            <a:avLst/>
          </a:prstGeom>
          <a:noFill/>
          <a:ln/>
        </p:spPr>
        <p:txBody>
          <a:bodyPr wrap="square" lIns="0" tIns="0" rIns="0" bIns="0" rtlCol="0" anchor="ctr"/>
          <a:lstStyle/>
          <a:p>
            <a:pPr marL="0" indent="0">
              <a:buNone/>
            </a:pPr>
            <a:r>
              <a:rPr lang="en-US" sz="1000" dirty="0">
                <a:solidFill>
                  <a:srgbClr val="64748B"/>
                </a:solidFill>
                <a:latin typeface="Montserrat" pitchFamily="34" charset="0"/>
                <a:ea typeface="Montserrat" pitchFamily="34" charset="-122"/>
                <a:cs typeface="Montserrat" pitchFamily="34" charset="-120"/>
              </a:rPr>
              <a:t>Audience &amp; behaviour</a:t>
            </a:r>
            <a:endParaRPr lang="en-US" sz="1000" dirty="0"/>
          </a:p>
        </p:txBody>
      </p:sp>
      <p:sp>
        <p:nvSpPr>
          <p:cNvPr id="14" name="Text 12"/>
          <p:cNvSpPr/>
          <p:nvPr/>
        </p:nvSpPr>
        <p:spPr>
          <a:xfrm>
            <a:off x="5577840" y="2761488"/>
            <a:ext cx="822960" cy="822960"/>
          </a:xfrm>
          <a:prstGeom prst="rect">
            <a:avLst/>
          </a:prstGeom>
          <a:noFill/>
          <a:ln/>
        </p:spPr>
        <p:txBody>
          <a:bodyPr wrap="square" lIns="0" tIns="0" rIns="0" bIns="0" rtlCol="0" anchor="ctr"/>
          <a:lstStyle/>
          <a:p>
            <a:pPr marL="0" indent="0">
              <a:buNone/>
            </a:pPr>
            <a:r>
              <a:rPr lang="en-US" sz="4000" b="1" dirty="0">
                <a:solidFill>
                  <a:srgbClr val="F26B3A"/>
                </a:solidFill>
                <a:latin typeface="Montserrat" pitchFamily="34" charset="0"/>
                <a:ea typeface="Montserrat" pitchFamily="34" charset="-122"/>
                <a:cs typeface="Montserrat" pitchFamily="34" charset="-120"/>
              </a:rPr>
              <a:t>02</a:t>
            </a:r>
            <a:endParaRPr lang="en-US" sz="4000" dirty="0"/>
          </a:p>
        </p:txBody>
      </p:sp>
      <p:sp>
        <p:nvSpPr>
          <p:cNvPr id="15" name="Shape 13"/>
          <p:cNvSpPr/>
          <p:nvPr/>
        </p:nvSpPr>
        <p:spPr>
          <a:xfrm>
            <a:off x="6446520" y="2962656"/>
            <a:ext cx="0" cy="502920"/>
          </a:xfrm>
          <a:prstGeom prst="line">
            <a:avLst/>
          </a:prstGeom>
          <a:noFill/>
          <a:ln w="12700">
            <a:solidFill>
              <a:srgbClr val="E2E6EE"/>
            </a:solidFill>
            <a:prstDash val="solid"/>
          </a:ln>
        </p:spPr>
        <p:txBody>
          <a:bodyPr/>
          <a:lstStyle/>
          <a:p>
            <a:endParaRPr lang="en-ZA"/>
          </a:p>
        </p:txBody>
      </p:sp>
      <p:sp>
        <p:nvSpPr>
          <p:cNvPr id="16" name="Text 14"/>
          <p:cNvSpPr/>
          <p:nvPr/>
        </p:nvSpPr>
        <p:spPr>
          <a:xfrm>
            <a:off x="6629400" y="2962656"/>
            <a:ext cx="5212080" cy="502920"/>
          </a:xfrm>
          <a:prstGeom prst="rect">
            <a:avLst/>
          </a:prstGeom>
          <a:noFill/>
          <a:ln/>
        </p:spPr>
        <p:txBody>
          <a:bodyPr wrap="square" lIns="0" tIns="0" rIns="0" bIns="0" rtlCol="0" anchor="ctr"/>
          <a:lstStyle/>
          <a:p>
            <a:pPr marL="0" indent="0">
              <a:buNone/>
            </a:pPr>
            <a:r>
              <a:rPr lang="en-US" sz="1500" b="1" dirty="0">
                <a:solidFill>
                  <a:srgbClr val="0F172A"/>
                </a:solidFill>
                <a:latin typeface="Montserrat" pitchFamily="34" charset="0"/>
                <a:ea typeface="Montserrat" pitchFamily="34" charset="-122"/>
                <a:cs typeface="Montserrat" pitchFamily="34" charset="-120"/>
              </a:rPr>
              <a:t>What factors are driving consumption?</a:t>
            </a:r>
            <a:endParaRPr lang="en-US" sz="1500" dirty="0"/>
          </a:p>
        </p:txBody>
      </p:sp>
      <p:sp>
        <p:nvSpPr>
          <p:cNvPr id="17" name="Text 15"/>
          <p:cNvSpPr/>
          <p:nvPr/>
        </p:nvSpPr>
        <p:spPr>
          <a:xfrm>
            <a:off x="6629400" y="3447288"/>
            <a:ext cx="5212080" cy="274320"/>
          </a:xfrm>
          <a:prstGeom prst="rect">
            <a:avLst/>
          </a:prstGeom>
          <a:noFill/>
          <a:ln/>
        </p:spPr>
        <p:txBody>
          <a:bodyPr wrap="square" lIns="0" tIns="0" rIns="0" bIns="0" rtlCol="0" anchor="ctr"/>
          <a:lstStyle/>
          <a:p>
            <a:pPr marL="0" indent="0">
              <a:buNone/>
            </a:pPr>
            <a:r>
              <a:rPr lang="en-US" sz="1000" dirty="0">
                <a:solidFill>
                  <a:srgbClr val="64748B"/>
                </a:solidFill>
                <a:latin typeface="Montserrat" pitchFamily="34" charset="0"/>
                <a:ea typeface="Montserrat" pitchFamily="34" charset="-122"/>
                <a:cs typeface="Montserrat" pitchFamily="34" charset="-120"/>
              </a:rPr>
              <a:t>Audience &amp; behaviour</a:t>
            </a:r>
            <a:endParaRPr lang="en-US" sz="1000" dirty="0"/>
          </a:p>
        </p:txBody>
      </p:sp>
      <p:sp>
        <p:nvSpPr>
          <p:cNvPr id="18" name="Text 16"/>
          <p:cNvSpPr/>
          <p:nvPr/>
        </p:nvSpPr>
        <p:spPr>
          <a:xfrm>
            <a:off x="5577840" y="3877056"/>
            <a:ext cx="822960" cy="822960"/>
          </a:xfrm>
          <a:prstGeom prst="rect">
            <a:avLst/>
          </a:prstGeom>
          <a:noFill/>
          <a:ln/>
        </p:spPr>
        <p:txBody>
          <a:bodyPr wrap="square" lIns="0" tIns="0" rIns="0" bIns="0" rtlCol="0" anchor="ctr"/>
          <a:lstStyle/>
          <a:p>
            <a:pPr marL="0" indent="0">
              <a:buNone/>
            </a:pPr>
            <a:r>
              <a:rPr lang="en-US" sz="4000" b="1" dirty="0">
                <a:solidFill>
                  <a:srgbClr val="F26B3A"/>
                </a:solidFill>
                <a:latin typeface="Montserrat" pitchFamily="34" charset="0"/>
                <a:ea typeface="Montserrat" pitchFamily="34" charset="-122"/>
                <a:cs typeface="Montserrat" pitchFamily="34" charset="-120"/>
              </a:rPr>
              <a:t>03</a:t>
            </a:r>
            <a:endParaRPr lang="en-US" sz="4000" dirty="0"/>
          </a:p>
        </p:txBody>
      </p:sp>
      <p:sp>
        <p:nvSpPr>
          <p:cNvPr id="19" name="Shape 17"/>
          <p:cNvSpPr/>
          <p:nvPr/>
        </p:nvSpPr>
        <p:spPr>
          <a:xfrm>
            <a:off x="6446520" y="4078224"/>
            <a:ext cx="0" cy="502920"/>
          </a:xfrm>
          <a:prstGeom prst="line">
            <a:avLst/>
          </a:prstGeom>
          <a:noFill/>
          <a:ln w="12700">
            <a:solidFill>
              <a:srgbClr val="E2E6EE"/>
            </a:solidFill>
            <a:prstDash val="solid"/>
          </a:ln>
        </p:spPr>
        <p:txBody>
          <a:bodyPr/>
          <a:lstStyle/>
          <a:p>
            <a:endParaRPr lang="en-ZA"/>
          </a:p>
        </p:txBody>
      </p:sp>
      <p:sp>
        <p:nvSpPr>
          <p:cNvPr id="20" name="Text 18"/>
          <p:cNvSpPr/>
          <p:nvPr/>
        </p:nvSpPr>
        <p:spPr>
          <a:xfrm>
            <a:off x="6629400" y="4078224"/>
            <a:ext cx="5212080" cy="502920"/>
          </a:xfrm>
          <a:prstGeom prst="rect">
            <a:avLst/>
          </a:prstGeom>
          <a:noFill/>
          <a:ln/>
        </p:spPr>
        <p:txBody>
          <a:bodyPr wrap="square" lIns="0" tIns="0" rIns="0" bIns="0" rtlCol="0" anchor="ctr"/>
          <a:lstStyle/>
          <a:p>
            <a:pPr marL="0" indent="0">
              <a:buNone/>
            </a:pPr>
            <a:r>
              <a:rPr lang="en-US" sz="1500" b="1" dirty="0">
                <a:solidFill>
                  <a:srgbClr val="0F172A"/>
                </a:solidFill>
                <a:latin typeface="Montserrat" pitchFamily="34" charset="0"/>
                <a:ea typeface="Montserrat" pitchFamily="34" charset="-122"/>
                <a:cs typeface="Montserrat" pitchFamily="34" charset="-120"/>
              </a:rPr>
              <a:t>What should run on the days consumption drops?</a:t>
            </a:r>
            <a:endParaRPr lang="en-US" sz="1500" dirty="0"/>
          </a:p>
        </p:txBody>
      </p:sp>
      <p:sp>
        <p:nvSpPr>
          <p:cNvPr id="21" name="Text 19"/>
          <p:cNvSpPr/>
          <p:nvPr/>
        </p:nvSpPr>
        <p:spPr>
          <a:xfrm>
            <a:off x="6629400" y="4562856"/>
            <a:ext cx="5212080" cy="274320"/>
          </a:xfrm>
          <a:prstGeom prst="rect">
            <a:avLst/>
          </a:prstGeom>
          <a:noFill/>
          <a:ln/>
        </p:spPr>
        <p:txBody>
          <a:bodyPr wrap="square" lIns="0" tIns="0" rIns="0" bIns="0" rtlCol="0" anchor="ctr"/>
          <a:lstStyle/>
          <a:p>
            <a:pPr marL="0" indent="0">
              <a:buNone/>
            </a:pPr>
            <a:r>
              <a:rPr lang="en-US" sz="1000" dirty="0">
                <a:solidFill>
                  <a:srgbClr val="64748B"/>
                </a:solidFill>
                <a:latin typeface="Montserrat" pitchFamily="34" charset="0"/>
                <a:ea typeface="Montserrat" pitchFamily="34" charset="-122"/>
                <a:cs typeface="Montserrat" pitchFamily="34" charset="-120"/>
              </a:rPr>
              <a:t>Content response</a:t>
            </a:r>
            <a:endParaRPr lang="en-US" sz="1000" dirty="0"/>
          </a:p>
        </p:txBody>
      </p:sp>
      <p:sp>
        <p:nvSpPr>
          <p:cNvPr id="22" name="Text 20"/>
          <p:cNvSpPr/>
          <p:nvPr/>
        </p:nvSpPr>
        <p:spPr>
          <a:xfrm>
            <a:off x="5577840" y="4992624"/>
            <a:ext cx="822960" cy="822960"/>
          </a:xfrm>
          <a:prstGeom prst="rect">
            <a:avLst/>
          </a:prstGeom>
          <a:noFill/>
          <a:ln/>
        </p:spPr>
        <p:txBody>
          <a:bodyPr wrap="square" lIns="0" tIns="0" rIns="0" bIns="0" rtlCol="0" anchor="ctr"/>
          <a:lstStyle/>
          <a:p>
            <a:pPr marL="0" indent="0">
              <a:buNone/>
            </a:pPr>
            <a:r>
              <a:rPr lang="en-US" sz="4000" b="1" dirty="0">
                <a:solidFill>
                  <a:srgbClr val="F26B3A"/>
                </a:solidFill>
                <a:latin typeface="Montserrat" pitchFamily="34" charset="0"/>
                <a:ea typeface="Montserrat" pitchFamily="34" charset="-122"/>
                <a:cs typeface="Montserrat" pitchFamily="34" charset="-120"/>
              </a:rPr>
              <a:t>04</a:t>
            </a:r>
            <a:endParaRPr lang="en-US" sz="4000" dirty="0"/>
          </a:p>
        </p:txBody>
      </p:sp>
      <p:sp>
        <p:nvSpPr>
          <p:cNvPr id="23" name="Shape 21"/>
          <p:cNvSpPr/>
          <p:nvPr/>
        </p:nvSpPr>
        <p:spPr>
          <a:xfrm>
            <a:off x="6446520" y="5193792"/>
            <a:ext cx="0" cy="502920"/>
          </a:xfrm>
          <a:prstGeom prst="line">
            <a:avLst/>
          </a:prstGeom>
          <a:noFill/>
          <a:ln w="12700">
            <a:solidFill>
              <a:srgbClr val="E2E6EE"/>
            </a:solidFill>
            <a:prstDash val="solid"/>
          </a:ln>
        </p:spPr>
        <p:txBody>
          <a:bodyPr/>
          <a:lstStyle/>
          <a:p>
            <a:endParaRPr lang="en-ZA"/>
          </a:p>
        </p:txBody>
      </p:sp>
      <p:sp>
        <p:nvSpPr>
          <p:cNvPr id="24" name="Text 22"/>
          <p:cNvSpPr/>
          <p:nvPr/>
        </p:nvSpPr>
        <p:spPr>
          <a:xfrm>
            <a:off x="6629400" y="5193792"/>
            <a:ext cx="5212080" cy="502920"/>
          </a:xfrm>
          <a:prstGeom prst="rect">
            <a:avLst/>
          </a:prstGeom>
          <a:noFill/>
          <a:ln/>
        </p:spPr>
        <p:txBody>
          <a:bodyPr wrap="square" lIns="0" tIns="0" rIns="0" bIns="0" rtlCol="0" anchor="ctr"/>
          <a:lstStyle/>
          <a:p>
            <a:pPr marL="0" indent="0">
              <a:buNone/>
            </a:pPr>
            <a:r>
              <a:rPr lang="en-US" sz="1500" b="1" dirty="0">
                <a:solidFill>
                  <a:srgbClr val="0F172A"/>
                </a:solidFill>
                <a:latin typeface="Montserrat" pitchFamily="34" charset="0"/>
                <a:ea typeface="Montserrat" pitchFamily="34" charset="-122"/>
                <a:cs typeface="Montserrat" pitchFamily="34" charset="-120"/>
              </a:rPr>
              <a:t>Which initiatives will actually grow the base?</a:t>
            </a:r>
            <a:endParaRPr lang="en-US" sz="1500" dirty="0"/>
          </a:p>
        </p:txBody>
      </p:sp>
      <p:sp>
        <p:nvSpPr>
          <p:cNvPr id="25" name="Text 23"/>
          <p:cNvSpPr/>
          <p:nvPr/>
        </p:nvSpPr>
        <p:spPr>
          <a:xfrm>
            <a:off x="6629400" y="5678424"/>
            <a:ext cx="5212080" cy="274320"/>
          </a:xfrm>
          <a:prstGeom prst="rect">
            <a:avLst/>
          </a:prstGeom>
          <a:noFill/>
          <a:ln/>
        </p:spPr>
        <p:txBody>
          <a:bodyPr wrap="square" lIns="0" tIns="0" rIns="0" bIns="0" rtlCol="0" anchor="ctr"/>
          <a:lstStyle/>
          <a:p>
            <a:pPr marL="0" indent="0">
              <a:buNone/>
            </a:pPr>
            <a:r>
              <a:rPr lang="en-US" sz="1000" dirty="0">
                <a:solidFill>
                  <a:srgbClr val="64748B"/>
                </a:solidFill>
                <a:latin typeface="Montserrat" pitchFamily="34" charset="0"/>
                <a:ea typeface="Montserrat" pitchFamily="34" charset="-122"/>
                <a:cs typeface="Montserrat" pitchFamily="34" charset="-120"/>
              </a:rPr>
              <a:t>Growth engine</a:t>
            </a:r>
            <a:endParaRPr lang="en-US" sz="1000" dirty="0"/>
          </a:p>
        </p:txBody>
      </p:sp>
      <p:sp>
        <p:nvSpPr>
          <p:cNvPr id="26" name="Shape 24"/>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27" name="Text 25"/>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28" name="Text 26"/>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The brief</a:t>
            </a:r>
            <a:endParaRPr lang="en-US" sz="900" dirty="0"/>
          </a:p>
        </p:txBody>
      </p:sp>
      <p:sp>
        <p:nvSpPr>
          <p:cNvPr id="29" name="Text 27"/>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EXECUTIVE SUMMARY</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Four findings worth acting on this quarter</a:t>
            </a:r>
            <a:endParaRPr lang="en-US" sz="2800" dirty="0"/>
          </a:p>
        </p:txBody>
      </p:sp>
      <p:sp>
        <p:nvSpPr>
          <p:cNvPr id="5" name="Shape 3"/>
          <p:cNvSpPr/>
          <p:nvPr/>
        </p:nvSpPr>
        <p:spPr>
          <a:xfrm>
            <a:off x="457200" y="1508760"/>
            <a:ext cx="5577840" cy="2331720"/>
          </a:xfrm>
          <a:prstGeom prst="rect">
            <a:avLst/>
          </a:prstGeom>
          <a:solidFill>
            <a:srgbClr val="F4F6F9"/>
          </a:solidFill>
          <a:ln w="6350">
            <a:solidFill>
              <a:srgbClr val="E2E6EE"/>
            </a:solidFill>
            <a:prstDash val="solid"/>
          </a:ln>
        </p:spPr>
        <p:txBody>
          <a:bodyPr/>
          <a:lstStyle/>
          <a:p>
            <a:endParaRPr lang="en-ZA"/>
          </a:p>
        </p:txBody>
      </p:sp>
      <p:sp>
        <p:nvSpPr>
          <p:cNvPr id="6" name="Shape 4"/>
          <p:cNvSpPr/>
          <p:nvPr/>
        </p:nvSpPr>
        <p:spPr>
          <a:xfrm>
            <a:off x="457200" y="1508760"/>
            <a:ext cx="73152" cy="2331720"/>
          </a:xfrm>
          <a:prstGeom prst="rect">
            <a:avLst/>
          </a:prstGeom>
          <a:solidFill>
            <a:srgbClr val="F26B3A"/>
          </a:solidFill>
          <a:ln w="12700">
            <a:solidFill>
              <a:srgbClr val="F26B3A"/>
            </a:solidFill>
            <a:prstDash val="solid"/>
          </a:ln>
        </p:spPr>
        <p:txBody>
          <a:bodyPr/>
          <a:lstStyle/>
          <a:p>
            <a:endParaRPr lang="en-ZA"/>
          </a:p>
        </p:txBody>
      </p:sp>
      <p:sp>
        <p:nvSpPr>
          <p:cNvPr id="7" name="Text 5"/>
          <p:cNvSpPr/>
          <p:nvPr/>
        </p:nvSpPr>
        <p:spPr>
          <a:xfrm>
            <a:off x="731520" y="1691640"/>
            <a:ext cx="640080" cy="457200"/>
          </a:xfrm>
          <a:prstGeom prst="rect">
            <a:avLst/>
          </a:prstGeom>
          <a:noFill/>
          <a:ln/>
        </p:spPr>
        <p:txBody>
          <a:bodyPr wrap="square" lIns="0" tIns="0" rIns="0" bIns="0" rtlCol="0" anchor="ctr"/>
          <a:lstStyle/>
          <a:p>
            <a:pPr marL="0" indent="0">
              <a:buNone/>
            </a:pPr>
            <a:r>
              <a:rPr lang="en-US" sz="2200" b="1" dirty="0">
                <a:solidFill>
                  <a:srgbClr val="F26B3A"/>
                </a:solidFill>
                <a:latin typeface="Montserrat" pitchFamily="34" charset="0"/>
                <a:ea typeface="Montserrat" pitchFamily="34" charset="-122"/>
                <a:cs typeface="Montserrat" pitchFamily="34" charset="-120"/>
              </a:rPr>
              <a:t>01</a:t>
            </a:r>
            <a:endParaRPr lang="en-US" sz="2200" dirty="0"/>
          </a:p>
        </p:txBody>
      </p:sp>
      <p:sp>
        <p:nvSpPr>
          <p:cNvPr id="8" name="Text 6"/>
          <p:cNvSpPr/>
          <p:nvPr/>
        </p:nvSpPr>
        <p:spPr>
          <a:xfrm>
            <a:off x="731520" y="2148840"/>
            <a:ext cx="5120640" cy="731520"/>
          </a:xfrm>
          <a:prstGeom prst="rect">
            <a:avLst/>
          </a:prstGeom>
          <a:noFill/>
          <a:ln/>
        </p:spPr>
        <p:txBody>
          <a:bodyPr wrap="square" lIns="0" tIns="0" rIns="0" bIns="0" rtlCol="0" anchor="ctr"/>
          <a:lstStyle/>
          <a:p>
            <a:pPr marL="0" indent="0">
              <a:buNone/>
            </a:pPr>
            <a:r>
              <a:rPr lang="en-US" sz="1700" b="1" dirty="0">
                <a:solidFill>
                  <a:srgbClr val="0F172A"/>
                </a:solidFill>
                <a:latin typeface="Montserrat" pitchFamily="34" charset="0"/>
                <a:ea typeface="Montserrat" pitchFamily="34" charset="-122"/>
                <a:cs typeface="Montserrat" pitchFamily="34" charset="-120"/>
              </a:rPr>
              <a:t>Half the audience never came back.</a:t>
            </a:r>
            <a:endParaRPr lang="en-US" sz="1700" dirty="0"/>
          </a:p>
        </p:txBody>
      </p:sp>
      <p:sp>
        <p:nvSpPr>
          <p:cNvPr id="9" name="Text 7"/>
          <p:cNvSpPr/>
          <p:nvPr/>
        </p:nvSpPr>
        <p:spPr>
          <a:xfrm>
            <a:off x="731520" y="2880360"/>
            <a:ext cx="5120640" cy="868680"/>
          </a:xfrm>
          <a:prstGeom prst="rect">
            <a:avLst/>
          </a:prstGeom>
          <a:noFill/>
          <a:ln/>
        </p:spPr>
        <p:txBody>
          <a:bodyPr wrap="square" lIns="0" tIns="0" rIns="0" bIns="0" rtlCol="0" anchor="ctr"/>
          <a:lstStyle/>
          <a:p>
            <a:pPr marL="0" indent="0">
              <a:buNone/>
            </a:pPr>
            <a:r>
              <a:rPr lang="en-US" sz="1150" dirty="0">
                <a:solidFill>
                  <a:srgbClr val="2B3444"/>
                </a:solidFill>
                <a:latin typeface="Montserrat" pitchFamily="34" charset="0"/>
                <a:ea typeface="Montserrat" pitchFamily="34" charset="-122"/>
                <a:cs typeface="Montserrat" pitchFamily="34" charset="-120"/>
              </a:rPr>
              <a:t>Of the 4,386 users we observed, 51% opened a single session and did not return. The acquisition engine is working; retention is where we are losing the money.</a:t>
            </a:r>
            <a:endParaRPr lang="en-US" sz="1150" dirty="0"/>
          </a:p>
        </p:txBody>
      </p:sp>
      <p:sp>
        <p:nvSpPr>
          <p:cNvPr id="10" name="Shape 8"/>
          <p:cNvSpPr/>
          <p:nvPr/>
        </p:nvSpPr>
        <p:spPr>
          <a:xfrm>
            <a:off x="6217920" y="1508760"/>
            <a:ext cx="5577840" cy="2331720"/>
          </a:xfrm>
          <a:prstGeom prst="rect">
            <a:avLst/>
          </a:prstGeom>
          <a:solidFill>
            <a:srgbClr val="F4F6F9"/>
          </a:solidFill>
          <a:ln w="6350">
            <a:solidFill>
              <a:srgbClr val="E2E6EE"/>
            </a:solidFill>
            <a:prstDash val="solid"/>
          </a:ln>
        </p:spPr>
        <p:txBody>
          <a:bodyPr/>
          <a:lstStyle/>
          <a:p>
            <a:endParaRPr lang="en-ZA"/>
          </a:p>
        </p:txBody>
      </p:sp>
      <p:sp>
        <p:nvSpPr>
          <p:cNvPr id="11" name="Shape 9"/>
          <p:cNvSpPr/>
          <p:nvPr/>
        </p:nvSpPr>
        <p:spPr>
          <a:xfrm>
            <a:off x="6217920" y="1508760"/>
            <a:ext cx="73152" cy="2331720"/>
          </a:xfrm>
          <a:prstGeom prst="rect">
            <a:avLst/>
          </a:prstGeom>
          <a:solidFill>
            <a:srgbClr val="F26B3A"/>
          </a:solidFill>
          <a:ln w="12700">
            <a:solidFill>
              <a:srgbClr val="F26B3A"/>
            </a:solidFill>
            <a:prstDash val="solid"/>
          </a:ln>
        </p:spPr>
        <p:txBody>
          <a:bodyPr/>
          <a:lstStyle/>
          <a:p>
            <a:endParaRPr lang="en-ZA"/>
          </a:p>
        </p:txBody>
      </p:sp>
      <p:sp>
        <p:nvSpPr>
          <p:cNvPr id="12" name="Text 10"/>
          <p:cNvSpPr/>
          <p:nvPr/>
        </p:nvSpPr>
        <p:spPr>
          <a:xfrm>
            <a:off x="6492240" y="1691640"/>
            <a:ext cx="640080" cy="457200"/>
          </a:xfrm>
          <a:prstGeom prst="rect">
            <a:avLst/>
          </a:prstGeom>
          <a:noFill/>
          <a:ln/>
        </p:spPr>
        <p:txBody>
          <a:bodyPr wrap="square" lIns="0" tIns="0" rIns="0" bIns="0" rtlCol="0" anchor="ctr"/>
          <a:lstStyle/>
          <a:p>
            <a:pPr marL="0" indent="0">
              <a:buNone/>
            </a:pPr>
            <a:r>
              <a:rPr lang="en-US" sz="2200" b="1" dirty="0">
                <a:solidFill>
                  <a:srgbClr val="F26B3A"/>
                </a:solidFill>
                <a:latin typeface="Montserrat" pitchFamily="34" charset="0"/>
                <a:ea typeface="Montserrat" pitchFamily="34" charset="-122"/>
                <a:cs typeface="Montserrat" pitchFamily="34" charset="-120"/>
              </a:rPr>
              <a:t>02</a:t>
            </a:r>
            <a:endParaRPr lang="en-US" sz="2200" dirty="0"/>
          </a:p>
        </p:txBody>
      </p:sp>
      <p:sp>
        <p:nvSpPr>
          <p:cNvPr id="13" name="Text 11"/>
          <p:cNvSpPr/>
          <p:nvPr/>
        </p:nvSpPr>
        <p:spPr>
          <a:xfrm>
            <a:off x="6492240" y="2148840"/>
            <a:ext cx="5120640" cy="731520"/>
          </a:xfrm>
          <a:prstGeom prst="rect">
            <a:avLst/>
          </a:prstGeom>
          <a:noFill/>
          <a:ln/>
        </p:spPr>
        <p:txBody>
          <a:bodyPr wrap="square" lIns="0" tIns="0" rIns="0" bIns="0" rtlCol="0" anchor="ctr"/>
          <a:lstStyle/>
          <a:p>
            <a:pPr marL="0" indent="0">
              <a:buNone/>
            </a:pPr>
            <a:r>
              <a:rPr lang="en-US" sz="1700" b="1" dirty="0">
                <a:solidFill>
                  <a:srgbClr val="0F172A"/>
                </a:solidFill>
                <a:latin typeface="Montserrat" pitchFamily="34" charset="0"/>
                <a:ea typeface="Montserrat" pitchFamily="34" charset="-122"/>
                <a:cs typeface="Montserrat" pitchFamily="34" charset="-120"/>
              </a:rPr>
              <a:t>The platform runs on sport — perhaps too much.</a:t>
            </a:r>
            <a:endParaRPr lang="en-US" sz="1700" dirty="0"/>
          </a:p>
        </p:txBody>
      </p:sp>
      <p:sp>
        <p:nvSpPr>
          <p:cNvPr id="14" name="Text 12"/>
          <p:cNvSpPr/>
          <p:nvPr/>
        </p:nvSpPr>
        <p:spPr>
          <a:xfrm>
            <a:off x="6492240" y="2880360"/>
            <a:ext cx="5120640" cy="868680"/>
          </a:xfrm>
          <a:prstGeom prst="rect">
            <a:avLst/>
          </a:prstGeom>
          <a:noFill/>
          <a:ln/>
        </p:spPr>
        <p:txBody>
          <a:bodyPr wrap="square" lIns="0" tIns="0" rIns="0" bIns="0" rtlCol="0" anchor="ctr"/>
          <a:lstStyle/>
          <a:p>
            <a:pPr marL="0" indent="0">
              <a:buNone/>
            </a:pPr>
            <a:r>
              <a:rPr lang="en-US" sz="1150" dirty="0">
                <a:solidFill>
                  <a:srgbClr val="2B3444"/>
                </a:solidFill>
                <a:latin typeface="Montserrat" pitchFamily="34" charset="0"/>
                <a:ea typeface="Montserrat" pitchFamily="34" charset="-122"/>
                <a:cs typeface="Montserrat" pitchFamily="34" charset="-120"/>
              </a:rPr>
              <a:t>Sport accounted for 54% of all minutes watched. Two cricket-driven channels alone drove R1 of every R2 of consumption. When the whistle blows, our audience walks.</a:t>
            </a:r>
            <a:endParaRPr lang="en-US" sz="1150" dirty="0"/>
          </a:p>
        </p:txBody>
      </p:sp>
      <p:sp>
        <p:nvSpPr>
          <p:cNvPr id="15" name="Shape 13"/>
          <p:cNvSpPr/>
          <p:nvPr/>
        </p:nvSpPr>
        <p:spPr>
          <a:xfrm>
            <a:off x="457200" y="4023360"/>
            <a:ext cx="5577840" cy="2331720"/>
          </a:xfrm>
          <a:prstGeom prst="rect">
            <a:avLst/>
          </a:prstGeom>
          <a:solidFill>
            <a:srgbClr val="F4F6F9"/>
          </a:solidFill>
          <a:ln w="6350">
            <a:solidFill>
              <a:srgbClr val="E2E6EE"/>
            </a:solidFill>
            <a:prstDash val="solid"/>
          </a:ln>
        </p:spPr>
        <p:txBody>
          <a:bodyPr/>
          <a:lstStyle/>
          <a:p>
            <a:endParaRPr lang="en-ZA"/>
          </a:p>
        </p:txBody>
      </p:sp>
      <p:sp>
        <p:nvSpPr>
          <p:cNvPr id="16" name="Shape 14"/>
          <p:cNvSpPr/>
          <p:nvPr/>
        </p:nvSpPr>
        <p:spPr>
          <a:xfrm>
            <a:off x="457200" y="4023360"/>
            <a:ext cx="73152" cy="2331720"/>
          </a:xfrm>
          <a:prstGeom prst="rect">
            <a:avLst/>
          </a:prstGeom>
          <a:solidFill>
            <a:srgbClr val="F26B3A"/>
          </a:solidFill>
          <a:ln w="12700">
            <a:solidFill>
              <a:srgbClr val="F26B3A"/>
            </a:solidFill>
            <a:prstDash val="solid"/>
          </a:ln>
        </p:spPr>
        <p:txBody>
          <a:bodyPr/>
          <a:lstStyle/>
          <a:p>
            <a:endParaRPr lang="en-ZA"/>
          </a:p>
        </p:txBody>
      </p:sp>
      <p:sp>
        <p:nvSpPr>
          <p:cNvPr id="17" name="Text 15"/>
          <p:cNvSpPr/>
          <p:nvPr/>
        </p:nvSpPr>
        <p:spPr>
          <a:xfrm>
            <a:off x="731520" y="4206240"/>
            <a:ext cx="640080" cy="457200"/>
          </a:xfrm>
          <a:prstGeom prst="rect">
            <a:avLst/>
          </a:prstGeom>
          <a:noFill/>
          <a:ln/>
        </p:spPr>
        <p:txBody>
          <a:bodyPr wrap="square" lIns="0" tIns="0" rIns="0" bIns="0" rtlCol="0" anchor="ctr"/>
          <a:lstStyle/>
          <a:p>
            <a:pPr marL="0" indent="0">
              <a:buNone/>
            </a:pPr>
            <a:r>
              <a:rPr lang="en-US" sz="2200" b="1" dirty="0">
                <a:solidFill>
                  <a:srgbClr val="F26B3A"/>
                </a:solidFill>
                <a:latin typeface="Montserrat" pitchFamily="34" charset="0"/>
                <a:ea typeface="Montserrat" pitchFamily="34" charset="-122"/>
                <a:cs typeface="Montserrat" pitchFamily="34" charset="-120"/>
              </a:rPr>
              <a:t>03</a:t>
            </a:r>
            <a:endParaRPr lang="en-US" sz="2200" dirty="0"/>
          </a:p>
        </p:txBody>
      </p:sp>
      <p:sp>
        <p:nvSpPr>
          <p:cNvPr id="18" name="Text 16"/>
          <p:cNvSpPr/>
          <p:nvPr/>
        </p:nvSpPr>
        <p:spPr>
          <a:xfrm>
            <a:off x="731520" y="4663440"/>
            <a:ext cx="5120640" cy="731520"/>
          </a:xfrm>
          <a:prstGeom prst="rect">
            <a:avLst/>
          </a:prstGeom>
          <a:noFill/>
          <a:ln/>
        </p:spPr>
        <p:txBody>
          <a:bodyPr wrap="square" lIns="0" tIns="0" rIns="0" bIns="0" rtlCol="0" anchor="ctr"/>
          <a:lstStyle/>
          <a:p>
            <a:pPr marL="0" indent="0">
              <a:buNone/>
            </a:pPr>
            <a:r>
              <a:rPr lang="en-US" sz="1700" b="1" dirty="0">
                <a:solidFill>
                  <a:srgbClr val="0F172A"/>
                </a:solidFill>
                <a:latin typeface="Montserrat" pitchFamily="34" charset="0"/>
                <a:ea typeface="Montserrat" pitchFamily="34" charset="-122"/>
                <a:cs typeface="Montserrat" pitchFamily="34" charset="-120"/>
              </a:rPr>
              <a:t>Mondays are our quiet day.</a:t>
            </a:r>
            <a:endParaRPr lang="en-US" sz="1700" dirty="0"/>
          </a:p>
        </p:txBody>
      </p:sp>
      <p:sp>
        <p:nvSpPr>
          <p:cNvPr id="19" name="Text 17"/>
          <p:cNvSpPr/>
          <p:nvPr/>
        </p:nvSpPr>
        <p:spPr>
          <a:xfrm>
            <a:off x="731520" y="5394960"/>
            <a:ext cx="5120640" cy="868680"/>
          </a:xfrm>
          <a:prstGeom prst="rect">
            <a:avLst/>
          </a:prstGeom>
          <a:noFill/>
          <a:ln/>
        </p:spPr>
        <p:txBody>
          <a:bodyPr wrap="square" lIns="0" tIns="0" rIns="0" bIns="0" rtlCol="0" anchor="ctr"/>
          <a:lstStyle/>
          <a:p>
            <a:pPr marL="0" indent="0">
              <a:buNone/>
            </a:pPr>
            <a:r>
              <a:rPr lang="en-US" sz="1150" dirty="0">
                <a:solidFill>
                  <a:srgbClr val="2B3444"/>
                </a:solidFill>
                <a:latin typeface="Montserrat" pitchFamily="34" charset="0"/>
                <a:ea typeface="Montserrat" pitchFamily="34" charset="-122"/>
                <a:cs typeface="Montserrat" pitchFamily="34" charset="-120"/>
              </a:rPr>
              <a:t>Monday consumption sat 61% below Saturday. That is not a viewer problem — it is a programming gap we have left open in the weekly schedule.</a:t>
            </a:r>
            <a:endParaRPr lang="en-US" sz="1150" dirty="0"/>
          </a:p>
        </p:txBody>
      </p:sp>
      <p:sp>
        <p:nvSpPr>
          <p:cNvPr id="20" name="Shape 18"/>
          <p:cNvSpPr/>
          <p:nvPr/>
        </p:nvSpPr>
        <p:spPr>
          <a:xfrm>
            <a:off x="6217920" y="4023360"/>
            <a:ext cx="5577840" cy="2331720"/>
          </a:xfrm>
          <a:prstGeom prst="rect">
            <a:avLst/>
          </a:prstGeom>
          <a:solidFill>
            <a:srgbClr val="F4F6F9"/>
          </a:solidFill>
          <a:ln w="6350">
            <a:solidFill>
              <a:srgbClr val="E2E6EE"/>
            </a:solidFill>
            <a:prstDash val="solid"/>
          </a:ln>
        </p:spPr>
        <p:txBody>
          <a:bodyPr/>
          <a:lstStyle/>
          <a:p>
            <a:endParaRPr lang="en-ZA"/>
          </a:p>
        </p:txBody>
      </p:sp>
      <p:sp>
        <p:nvSpPr>
          <p:cNvPr id="21" name="Shape 19"/>
          <p:cNvSpPr/>
          <p:nvPr/>
        </p:nvSpPr>
        <p:spPr>
          <a:xfrm>
            <a:off x="6217920" y="4023360"/>
            <a:ext cx="73152" cy="2331720"/>
          </a:xfrm>
          <a:prstGeom prst="rect">
            <a:avLst/>
          </a:prstGeom>
          <a:solidFill>
            <a:srgbClr val="F26B3A"/>
          </a:solidFill>
          <a:ln w="12700">
            <a:solidFill>
              <a:srgbClr val="F26B3A"/>
            </a:solidFill>
            <a:prstDash val="solid"/>
          </a:ln>
        </p:spPr>
        <p:txBody>
          <a:bodyPr/>
          <a:lstStyle/>
          <a:p>
            <a:endParaRPr lang="en-ZA"/>
          </a:p>
        </p:txBody>
      </p:sp>
      <p:sp>
        <p:nvSpPr>
          <p:cNvPr id="22" name="Text 20"/>
          <p:cNvSpPr/>
          <p:nvPr/>
        </p:nvSpPr>
        <p:spPr>
          <a:xfrm>
            <a:off x="6492240" y="4206240"/>
            <a:ext cx="640080" cy="457200"/>
          </a:xfrm>
          <a:prstGeom prst="rect">
            <a:avLst/>
          </a:prstGeom>
          <a:noFill/>
          <a:ln/>
        </p:spPr>
        <p:txBody>
          <a:bodyPr wrap="square" lIns="0" tIns="0" rIns="0" bIns="0" rtlCol="0" anchor="ctr"/>
          <a:lstStyle/>
          <a:p>
            <a:pPr marL="0" indent="0">
              <a:buNone/>
            </a:pPr>
            <a:r>
              <a:rPr lang="en-US" sz="2200" b="1" dirty="0">
                <a:solidFill>
                  <a:srgbClr val="F26B3A"/>
                </a:solidFill>
                <a:latin typeface="Montserrat" pitchFamily="34" charset="0"/>
                <a:ea typeface="Montserrat" pitchFamily="34" charset="-122"/>
                <a:cs typeface="Montserrat" pitchFamily="34" charset="-120"/>
              </a:rPr>
              <a:t>04</a:t>
            </a:r>
            <a:endParaRPr lang="en-US" sz="2200" dirty="0"/>
          </a:p>
        </p:txBody>
      </p:sp>
      <p:sp>
        <p:nvSpPr>
          <p:cNvPr id="23" name="Text 21"/>
          <p:cNvSpPr/>
          <p:nvPr/>
        </p:nvSpPr>
        <p:spPr>
          <a:xfrm>
            <a:off x="6492240" y="4663440"/>
            <a:ext cx="5120640" cy="731520"/>
          </a:xfrm>
          <a:prstGeom prst="rect">
            <a:avLst/>
          </a:prstGeom>
          <a:noFill/>
          <a:ln/>
        </p:spPr>
        <p:txBody>
          <a:bodyPr wrap="square" lIns="0" tIns="0" rIns="0" bIns="0" rtlCol="0" anchor="ctr"/>
          <a:lstStyle/>
          <a:p>
            <a:pPr marL="0" indent="0">
              <a:buNone/>
            </a:pPr>
            <a:r>
              <a:rPr lang="en-US" sz="1700" b="1" dirty="0">
                <a:solidFill>
                  <a:srgbClr val="0F172A"/>
                </a:solidFill>
                <a:latin typeface="Montserrat" pitchFamily="34" charset="0"/>
                <a:ea typeface="Montserrat" pitchFamily="34" charset="-122"/>
                <a:cs typeface="Montserrat" pitchFamily="34" charset="-120"/>
              </a:rPr>
              <a:t>Women and seniors are an open growth lane.</a:t>
            </a:r>
            <a:endParaRPr lang="en-US" sz="1700" dirty="0"/>
          </a:p>
        </p:txBody>
      </p:sp>
      <p:sp>
        <p:nvSpPr>
          <p:cNvPr id="24" name="Text 22"/>
          <p:cNvSpPr/>
          <p:nvPr/>
        </p:nvSpPr>
        <p:spPr>
          <a:xfrm>
            <a:off x="6492240" y="5394960"/>
            <a:ext cx="5120640" cy="868680"/>
          </a:xfrm>
          <a:prstGeom prst="rect">
            <a:avLst/>
          </a:prstGeom>
          <a:noFill/>
          <a:ln/>
        </p:spPr>
        <p:txBody>
          <a:bodyPr wrap="square" lIns="0" tIns="0" rIns="0" bIns="0" rtlCol="0" anchor="ctr"/>
          <a:lstStyle/>
          <a:p>
            <a:pPr marL="0" indent="0">
              <a:buNone/>
            </a:pPr>
            <a:r>
              <a:rPr lang="en-US" sz="1150" dirty="0">
                <a:solidFill>
                  <a:srgbClr val="2B3444"/>
                </a:solidFill>
                <a:latin typeface="Montserrat" pitchFamily="34" charset="0"/>
                <a:ea typeface="Montserrat" pitchFamily="34" charset="-122"/>
                <a:cs typeface="Montserrat" pitchFamily="34" charset="-120"/>
              </a:rPr>
              <a:t>Only 11% of our users were women and 6% were seniors. These two groups are under-served by our current content mix and represent the clearest path to new subscribers.</a:t>
            </a:r>
            <a:endParaRPr lang="en-US" sz="1150" dirty="0"/>
          </a:p>
        </p:txBody>
      </p:sp>
      <p:sp>
        <p:nvSpPr>
          <p:cNvPr id="25" name="Shape 23"/>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26" name="Text 24"/>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27" name="Text 25"/>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Executive summary</a:t>
            </a:r>
            <a:endParaRPr lang="en-US" sz="900" dirty="0"/>
          </a:p>
        </p:txBody>
      </p:sp>
      <p:sp>
        <p:nvSpPr>
          <p:cNvPr id="28" name="Text 26"/>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SCOPE</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What the data covered — and what it did not</a:t>
            </a:r>
            <a:endParaRPr lang="en-US" sz="2800" dirty="0"/>
          </a:p>
        </p:txBody>
      </p:sp>
      <p:sp>
        <p:nvSpPr>
          <p:cNvPr id="5" name="Shape 3"/>
          <p:cNvSpPr/>
          <p:nvPr/>
        </p:nvSpPr>
        <p:spPr>
          <a:xfrm>
            <a:off x="457200" y="1554480"/>
            <a:ext cx="2743200" cy="1280160"/>
          </a:xfrm>
          <a:prstGeom prst="rect">
            <a:avLst/>
          </a:prstGeom>
          <a:solidFill>
            <a:srgbClr val="F4F6F9"/>
          </a:solidFill>
          <a:ln w="6350">
            <a:solidFill>
              <a:srgbClr val="E2E6EE"/>
            </a:solidFill>
            <a:prstDash val="solid"/>
          </a:ln>
        </p:spPr>
        <p:txBody>
          <a:bodyPr/>
          <a:lstStyle/>
          <a:p>
            <a:endParaRPr lang="en-ZA"/>
          </a:p>
        </p:txBody>
      </p:sp>
      <p:sp>
        <p:nvSpPr>
          <p:cNvPr id="6" name="Shape 4"/>
          <p:cNvSpPr/>
          <p:nvPr/>
        </p:nvSpPr>
        <p:spPr>
          <a:xfrm>
            <a:off x="457200" y="1554480"/>
            <a:ext cx="54864" cy="1280160"/>
          </a:xfrm>
          <a:prstGeom prst="rect">
            <a:avLst/>
          </a:prstGeom>
          <a:solidFill>
            <a:srgbClr val="F26B3A"/>
          </a:solidFill>
          <a:ln w="12700">
            <a:solidFill>
              <a:srgbClr val="F26B3A"/>
            </a:solidFill>
            <a:prstDash val="solid"/>
          </a:ln>
        </p:spPr>
        <p:txBody>
          <a:bodyPr/>
          <a:lstStyle/>
          <a:p>
            <a:endParaRPr lang="en-ZA"/>
          </a:p>
        </p:txBody>
      </p:sp>
      <p:sp>
        <p:nvSpPr>
          <p:cNvPr id="7" name="Text 5"/>
          <p:cNvSpPr/>
          <p:nvPr/>
        </p:nvSpPr>
        <p:spPr>
          <a:xfrm>
            <a:off x="621792" y="1664208"/>
            <a:ext cx="2514600" cy="614477"/>
          </a:xfrm>
          <a:prstGeom prst="rect">
            <a:avLst/>
          </a:prstGeom>
          <a:noFill/>
          <a:ln/>
        </p:spPr>
        <p:txBody>
          <a:bodyPr wrap="square" lIns="0" tIns="0" rIns="0" bIns="0" rtlCol="0" anchor="ctr"/>
          <a:lstStyle/>
          <a:p>
            <a:pPr marL="0" indent="0">
              <a:buNone/>
            </a:pPr>
            <a:r>
              <a:rPr lang="en-US" sz="3200" b="1" dirty="0">
                <a:solidFill>
                  <a:srgbClr val="0F172A"/>
                </a:solidFill>
                <a:latin typeface="Montserrat" pitchFamily="34" charset="0"/>
                <a:ea typeface="Montserrat" pitchFamily="34" charset="-122"/>
                <a:cs typeface="Montserrat" pitchFamily="34" charset="-120"/>
              </a:rPr>
              <a:t>4,386</a:t>
            </a:r>
            <a:endParaRPr lang="en-US" sz="3200" dirty="0"/>
          </a:p>
        </p:txBody>
      </p:sp>
      <p:sp>
        <p:nvSpPr>
          <p:cNvPr id="8" name="Text 6"/>
          <p:cNvSpPr/>
          <p:nvPr/>
        </p:nvSpPr>
        <p:spPr>
          <a:xfrm>
            <a:off x="621792" y="2258568"/>
            <a:ext cx="2514600" cy="537667"/>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Unique viewers</a:t>
            </a:r>
            <a:endParaRPr lang="en-US" sz="1050" dirty="0"/>
          </a:p>
        </p:txBody>
      </p:sp>
      <p:sp>
        <p:nvSpPr>
          <p:cNvPr id="9" name="Shape 7"/>
          <p:cNvSpPr/>
          <p:nvPr/>
        </p:nvSpPr>
        <p:spPr>
          <a:xfrm>
            <a:off x="3383280" y="1554480"/>
            <a:ext cx="2743200" cy="1280160"/>
          </a:xfrm>
          <a:prstGeom prst="rect">
            <a:avLst/>
          </a:prstGeom>
          <a:solidFill>
            <a:srgbClr val="F4F6F9"/>
          </a:solidFill>
          <a:ln w="6350">
            <a:solidFill>
              <a:srgbClr val="E2E6EE"/>
            </a:solidFill>
            <a:prstDash val="solid"/>
          </a:ln>
        </p:spPr>
        <p:txBody>
          <a:bodyPr/>
          <a:lstStyle/>
          <a:p>
            <a:endParaRPr lang="en-ZA"/>
          </a:p>
        </p:txBody>
      </p:sp>
      <p:sp>
        <p:nvSpPr>
          <p:cNvPr id="10" name="Shape 8"/>
          <p:cNvSpPr/>
          <p:nvPr/>
        </p:nvSpPr>
        <p:spPr>
          <a:xfrm>
            <a:off x="3383280" y="1554480"/>
            <a:ext cx="54864" cy="1280160"/>
          </a:xfrm>
          <a:prstGeom prst="rect">
            <a:avLst/>
          </a:prstGeom>
          <a:solidFill>
            <a:srgbClr val="F26B3A"/>
          </a:solidFill>
          <a:ln w="12700">
            <a:solidFill>
              <a:srgbClr val="F26B3A"/>
            </a:solidFill>
            <a:prstDash val="solid"/>
          </a:ln>
        </p:spPr>
        <p:txBody>
          <a:bodyPr/>
          <a:lstStyle/>
          <a:p>
            <a:endParaRPr lang="en-ZA"/>
          </a:p>
        </p:txBody>
      </p:sp>
      <p:sp>
        <p:nvSpPr>
          <p:cNvPr id="11" name="Text 9"/>
          <p:cNvSpPr/>
          <p:nvPr/>
        </p:nvSpPr>
        <p:spPr>
          <a:xfrm>
            <a:off x="3547872" y="1664208"/>
            <a:ext cx="2514600" cy="614477"/>
          </a:xfrm>
          <a:prstGeom prst="rect">
            <a:avLst/>
          </a:prstGeom>
          <a:noFill/>
          <a:ln/>
        </p:spPr>
        <p:txBody>
          <a:bodyPr wrap="square" lIns="0" tIns="0" rIns="0" bIns="0" rtlCol="0" anchor="ctr"/>
          <a:lstStyle/>
          <a:p>
            <a:pPr marL="0" indent="0">
              <a:buNone/>
            </a:pPr>
            <a:r>
              <a:rPr lang="en-US" sz="3200" b="1" dirty="0">
                <a:solidFill>
                  <a:srgbClr val="0F172A"/>
                </a:solidFill>
                <a:latin typeface="Montserrat" pitchFamily="34" charset="0"/>
                <a:ea typeface="Montserrat" pitchFamily="34" charset="-122"/>
                <a:cs typeface="Montserrat" pitchFamily="34" charset="-120"/>
              </a:rPr>
              <a:t>9,995</a:t>
            </a:r>
            <a:endParaRPr lang="en-US" sz="3200" dirty="0"/>
          </a:p>
        </p:txBody>
      </p:sp>
      <p:sp>
        <p:nvSpPr>
          <p:cNvPr id="12" name="Text 10"/>
          <p:cNvSpPr/>
          <p:nvPr/>
        </p:nvSpPr>
        <p:spPr>
          <a:xfrm>
            <a:off x="3547872" y="2258568"/>
            <a:ext cx="2514600" cy="537667"/>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Viewing sessions</a:t>
            </a:r>
            <a:endParaRPr lang="en-US" sz="1050" dirty="0"/>
          </a:p>
        </p:txBody>
      </p:sp>
      <p:sp>
        <p:nvSpPr>
          <p:cNvPr id="13" name="Shape 11"/>
          <p:cNvSpPr/>
          <p:nvPr/>
        </p:nvSpPr>
        <p:spPr>
          <a:xfrm>
            <a:off x="457200" y="2971800"/>
            <a:ext cx="2743200" cy="1280160"/>
          </a:xfrm>
          <a:prstGeom prst="rect">
            <a:avLst/>
          </a:prstGeom>
          <a:solidFill>
            <a:srgbClr val="F4F6F9"/>
          </a:solidFill>
          <a:ln w="6350">
            <a:solidFill>
              <a:srgbClr val="E2E6EE"/>
            </a:solidFill>
            <a:prstDash val="solid"/>
          </a:ln>
        </p:spPr>
        <p:txBody>
          <a:bodyPr/>
          <a:lstStyle/>
          <a:p>
            <a:endParaRPr lang="en-ZA"/>
          </a:p>
        </p:txBody>
      </p:sp>
      <p:sp>
        <p:nvSpPr>
          <p:cNvPr id="14" name="Shape 12"/>
          <p:cNvSpPr/>
          <p:nvPr/>
        </p:nvSpPr>
        <p:spPr>
          <a:xfrm>
            <a:off x="457200" y="2971800"/>
            <a:ext cx="54864" cy="1280160"/>
          </a:xfrm>
          <a:prstGeom prst="rect">
            <a:avLst/>
          </a:prstGeom>
          <a:solidFill>
            <a:srgbClr val="E8B839"/>
          </a:solidFill>
          <a:ln w="12700">
            <a:solidFill>
              <a:srgbClr val="E8B839"/>
            </a:solidFill>
            <a:prstDash val="solid"/>
          </a:ln>
        </p:spPr>
        <p:txBody>
          <a:bodyPr/>
          <a:lstStyle/>
          <a:p>
            <a:endParaRPr lang="en-ZA"/>
          </a:p>
        </p:txBody>
      </p:sp>
      <p:sp>
        <p:nvSpPr>
          <p:cNvPr id="15" name="Text 13"/>
          <p:cNvSpPr/>
          <p:nvPr/>
        </p:nvSpPr>
        <p:spPr>
          <a:xfrm>
            <a:off x="621792" y="3081528"/>
            <a:ext cx="2514600" cy="614477"/>
          </a:xfrm>
          <a:prstGeom prst="rect">
            <a:avLst/>
          </a:prstGeom>
          <a:noFill/>
          <a:ln/>
        </p:spPr>
        <p:txBody>
          <a:bodyPr wrap="square" lIns="0" tIns="0" rIns="0" bIns="0" rtlCol="0" anchor="ctr"/>
          <a:lstStyle/>
          <a:p>
            <a:pPr marL="0" indent="0">
              <a:buNone/>
            </a:pPr>
            <a:r>
              <a:rPr lang="en-US" sz="3200" b="1" dirty="0">
                <a:solidFill>
                  <a:srgbClr val="0F172A"/>
                </a:solidFill>
                <a:latin typeface="Montserrat" pitchFamily="34" charset="0"/>
                <a:ea typeface="Montserrat" pitchFamily="34" charset="-122"/>
                <a:cs typeface="Montserrat" pitchFamily="34" charset="-120"/>
              </a:rPr>
              <a:t>91,343</a:t>
            </a:r>
            <a:endParaRPr lang="en-US" sz="3200" dirty="0"/>
          </a:p>
        </p:txBody>
      </p:sp>
      <p:sp>
        <p:nvSpPr>
          <p:cNvPr id="16" name="Text 14"/>
          <p:cNvSpPr/>
          <p:nvPr/>
        </p:nvSpPr>
        <p:spPr>
          <a:xfrm>
            <a:off x="621792" y="3675888"/>
            <a:ext cx="2514600" cy="537667"/>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Minutes consumed</a:t>
            </a:r>
            <a:endParaRPr lang="en-US" sz="1050" dirty="0"/>
          </a:p>
        </p:txBody>
      </p:sp>
      <p:sp>
        <p:nvSpPr>
          <p:cNvPr id="17" name="Shape 15"/>
          <p:cNvSpPr/>
          <p:nvPr/>
        </p:nvSpPr>
        <p:spPr>
          <a:xfrm>
            <a:off x="3383280" y="2971800"/>
            <a:ext cx="2743200" cy="1280160"/>
          </a:xfrm>
          <a:prstGeom prst="rect">
            <a:avLst/>
          </a:prstGeom>
          <a:solidFill>
            <a:srgbClr val="F4F6F9"/>
          </a:solidFill>
          <a:ln w="6350">
            <a:solidFill>
              <a:srgbClr val="E2E6EE"/>
            </a:solidFill>
            <a:prstDash val="solid"/>
          </a:ln>
        </p:spPr>
        <p:txBody>
          <a:bodyPr/>
          <a:lstStyle/>
          <a:p>
            <a:endParaRPr lang="en-ZA"/>
          </a:p>
        </p:txBody>
      </p:sp>
      <p:sp>
        <p:nvSpPr>
          <p:cNvPr id="18" name="Shape 16"/>
          <p:cNvSpPr/>
          <p:nvPr/>
        </p:nvSpPr>
        <p:spPr>
          <a:xfrm>
            <a:off x="3383280" y="2971800"/>
            <a:ext cx="54864" cy="1280160"/>
          </a:xfrm>
          <a:prstGeom prst="rect">
            <a:avLst/>
          </a:prstGeom>
          <a:solidFill>
            <a:srgbClr val="E8B839"/>
          </a:solidFill>
          <a:ln w="12700">
            <a:solidFill>
              <a:srgbClr val="E8B839"/>
            </a:solidFill>
            <a:prstDash val="solid"/>
          </a:ln>
        </p:spPr>
        <p:txBody>
          <a:bodyPr/>
          <a:lstStyle/>
          <a:p>
            <a:endParaRPr lang="en-ZA"/>
          </a:p>
        </p:txBody>
      </p:sp>
      <p:sp>
        <p:nvSpPr>
          <p:cNvPr id="19" name="Text 17"/>
          <p:cNvSpPr/>
          <p:nvPr/>
        </p:nvSpPr>
        <p:spPr>
          <a:xfrm>
            <a:off x="3547872" y="3081528"/>
            <a:ext cx="2514600" cy="614477"/>
          </a:xfrm>
          <a:prstGeom prst="rect">
            <a:avLst/>
          </a:prstGeom>
          <a:noFill/>
          <a:ln/>
        </p:spPr>
        <p:txBody>
          <a:bodyPr wrap="square" lIns="0" tIns="0" rIns="0" bIns="0" rtlCol="0" anchor="ctr"/>
          <a:lstStyle/>
          <a:p>
            <a:pPr marL="0" indent="0">
              <a:buNone/>
            </a:pPr>
            <a:r>
              <a:rPr lang="en-US" sz="3200" b="1" dirty="0">
                <a:solidFill>
                  <a:srgbClr val="0F172A"/>
                </a:solidFill>
                <a:latin typeface="Montserrat" pitchFamily="34" charset="0"/>
                <a:ea typeface="Montserrat" pitchFamily="34" charset="-122"/>
                <a:cs typeface="Montserrat" pitchFamily="34" charset="-120"/>
              </a:rPr>
              <a:t>3 months</a:t>
            </a:r>
            <a:endParaRPr lang="en-US" sz="3200" dirty="0"/>
          </a:p>
        </p:txBody>
      </p:sp>
      <p:sp>
        <p:nvSpPr>
          <p:cNvPr id="20" name="Text 18"/>
          <p:cNvSpPr/>
          <p:nvPr/>
        </p:nvSpPr>
        <p:spPr>
          <a:xfrm>
            <a:off x="3547872" y="3675888"/>
            <a:ext cx="2514600" cy="537667"/>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Jan – Mar 2016</a:t>
            </a:r>
            <a:endParaRPr lang="en-US" sz="1050" dirty="0"/>
          </a:p>
        </p:txBody>
      </p:sp>
      <p:sp>
        <p:nvSpPr>
          <p:cNvPr id="21" name="Shape 19"/>
          <p:cNvSpPr/>
          <p:nvPr/>
        </p:nvSpPr>
        <p:spPr>
          <a:xfrm>
            <a:off x="457200" y="4389120"/>
            <a:ext cx="5669280" cy="1737360"/>
          </a:xfrm>
          <a:prstGeom prst="rect">
            <a:avLst/>
          </a:prstGeom>
          <a:solidFill>
            <a:srgbClr val="FFFFFF"/>
          </a:solidFill>
          <a:ln w="9525">
            <a:solidFill>
              <a:srgbClr val="E2E6EE"/>
            </a:solidFill>
            <a:prstDash val="solid"/>
          </a:ln>
        </p:spPr>
        <p:txBody>
          <a:bodyPr/>
          <a:lstStyle/>
          <a:p>
            <a:endParaRPr lang="en-ZA"/>
          </a:p>
        </p:txBody>
      </p:sp>
      <p:sp>
        <p:nvSpPr>
          <p:cNvPr id="22" name="Text 20"/>
          <p:cNvSpPr/>
          <p:nvPr/>
        </p:nvSpPr>
        <p:spPr>
          <a:xfrm>
            <a:off x="594360" y="4480560"/>
            <a:ext cx="54864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HOW WE HANDLED THE DATA</a:t>
            </a:r>
            <a:endParaRPr lang="en-US" sz="1000" dirty="0"/>
          </a:p>
        </p:txBody>
      </p:sp>
      <p:sp>
        <p:nvSpPr>
          <p:cNvPr id="23" name="Text 21"/>
          <p:cNvSpPr/>
          <p:nvPr/>
        </p:nvSpPr>
        <p:spPr>
          <a:xfrm>
            <a:off x="685800" y="4800600"/>
            <a:ext cx="5486400" cy="1280160"/>
          </a:xfrm>
          <a:prstGeom prst="rect">
            <a:avLst/>
          </a:prstGeom>
          <a:noFill/>
          <a:ln/>
        </p:spPr>
        <p:txBody>
          <a:bodyPr wrap="square" lIns="0" tIns="0" rIns="0" bIns="0" rtlCol="0" anchor="ctr"/>
          <a:lstStyle/>
          <a:p>
            <a:pPr marL="342900" indent="-342900">
              <a:spcAft>
                <a:spcPts val="300"/>
              </a:spcAft>
              <a:buSzPct val="100000"/>
              <a:buChar char="•"/>
            </a:pPr>
            <a:r>
              <a:rPr lang="en-US" sz="1100" dirty="0">
                <a:solidFill>
                  <a:srgbClr val="2B3444"/>
                </a:solidFill>
                <a:latin typeface="Montserrat" pitchFamily="34" charset="0"/>
                <a:ea typeface="Montserrat" pitchFamily="34" charset="-122"/>
                <a:cs typeface="Montserrat" pitchFamily="34" charset="-120"/>
              </a:rPr>
              <a:t>All timestamps converted from UTC to South African Standard Time (UTC+2).</a:t>
            </a:r>
            <a:endParaRPr lang="en-US" sz="1100" dirty="0"/>
          </a:p>
          <a:p>
            <a:pPr marL="342900" indent="-342900">
              <a:spcAft>
                <a:spcPts val="300"/>
              </a:spcAft>
              <a:buSzPct val="100000"/>
              <a:buChar char="•"/>
            </a:pPr>
            <a:r>
              <a:rPr lang="en-US" sz="1100" dirty="0">
                <a:solidFill>
                  <a:srgbClr val="2B3444"/>
                </a:solidFill>
                <a:latin typeface="Montserrat" pitchFamily="34" charset="0"/>
                <a:ea typeface="Montserrat" pitchFamily="34" charset="-122"/>
                <a:cs typeface="Montserrat" pitchFamily="34" charset="-120"/>
              </a:rPr>
              <a:t>Each row represents a single viewing session by a single viewer.</a:t>
            </a:r>
            <a:endParaRPr lang="en-US" sz="1100" dirty="0"/>
          </a:p>
          <a:p>
            <a:pPr marL="342900" indent="-342900">
              <a:spcAft>
                <a:spcPts val="300"/>
              </a:spcAft>
              <a:buSzPct val="100000"/>
              <a:buChar char="•"/>
            </a:pPr>
            <a:r>
              <a:rPr lang="en-US" sz="1100" dirty="0">
                <a:solidFill>
                  <a:srgbClr val="2B3444"/>
                </a:solidFill>
                <a:latin typeface="Montserrat" pitchFamily="34" charset="0"/>
                <a:ea typeface="Montserrat" pitchFamily="34" charset="-122"/>
                <a:cs typeface="Montserrat" pitchFamily="34" charset="-120"/>
              </a:rPr>
              <a:t>Corrupted duration fields were re-parsed from the raw Excel serial format.</a:t>
            </a:r>
            <a:endParaRPr lang="en-US" sz="1100" dirty="0"/>
          </a:p>
          <a:p>
            <a:pPr marL="342900" indent="-342900">
              <a:spcAft>
                <a:spcPts val="300"/>
              </a:spcAft>
              <a:buSzPct val="100000"/>
              <a:buChar char="•"/>
            </a:pPr>
            <a:r>
              <a:rPr lang="en-US" sz="1100" dirty="0">
                <a:solidFill>
                  <a:srgbClr val="2B3444"/>
                </a:solidFill>
                <a:latin typeface="Montserrat" pitchFamily="34" charset="0"/>
                <a:ea typeface="Montserrat" pitchFamily="34" charset="-122"/>
                <a:cs typeface="Montserrat" pitchFamily="34" charset="-120"/>
              </a:rPr>
              <a:t>Where demographic fields were blank we flagged them as 'Unknown' rather than discarding.</a:t>
            </a:r>
            <a:endParaRPr lang="en-US" sz="1100" dirty="0"/>
          </a:p>
        </p:txBody>
      </p:sp>
      <p:sp>
        <p:nvSpPr>
          <p:cNvPr id="24" name="Shape 22"/>
          <p:cNvSpPr/>
          <p:nvPr/>
        </p:nvSpPr>
        <p:spPr>
          <a:xfrm>
            <a:off x="6400800" y="1554480"/>
            <a:ext cx="5303520" cy="4572000"/>
          </a:xfrm>
          <a:prstGeom prst="rect">
            <a:avLst/>
          </a:prstGeom>
          <a:solidFill>
            <a:srgbClr val="15233C"/>
          </a:solidFill>
          <a:ln w="12700">
            <a:solidFill>
              <a:srgbClr val="15233C"/>
            </a:solidFill>
            <a:prstDash val="solid"/>
          </a:ln>
        </p:spPr>
        <p:txBody>
          <a:bodyPr/>
          <a:lstStyle/>
          <a:p>
            <a:endParaRPr lang="en-ZA"/>
          </a:p>
        </p:txBody>
      </p:sp>
      <p:sp>
        <p:nvSpPr>
          <p:cNvPr id="25" name="Shape 23"/>
          <p:cNvSpPr/>
          <p:nvPr/>
        </p:nvSpPr>
        <p:spPr>
          <a:xfrm>
            <a:off x="6400800" y="1554480"/>
            <a:ext cx="73152" cy="4572000"/>
          </a:xfrm>
          <a:prstGeom prst="rect">
            <a:avLst/>
          </a:prstGeom>
          <a:solidFill>
            <a:srgbClr val="E8B839"/>
          </a:solidFill>
          <a:ln w="12700">
            <a:solidFill>
              <a:srgbClr val="E8B839"/>
            </a:solidFill>
            <a:prstDash val="solid"/>
          </a:ln>
        </p:spPr>
        <p:txBody>
          <a:bodyPr/>
          <a:lstStyle/>
          <a:p>
            <a:endParaRPr lang="en-ZA"/>
          </a:p>
        </p:txBody>
      </p:sp>
      <p:sp>
        <p:nvSpPr>
          <p:cNvPr id="26" name="Text 24"/>
          <p:cNvSpPr/>
          <p:nvPr/>
        </p:nvSpPr>
        <p:spPr>
          <a:xfrm>
            <a:off x="6675120" y="1737360"/>
            <a:ext cx="4754880" cy="320040"/>
          </a:xfrm>
          <a:prstGeom prst="rect">
            <a:avLst/>
          </a:prstGeom>
          <a:noFill/>
          <a:ln/>
        </p:spPr>
        <p:txBody>
          <a:bodyPr wrap="square" rtlCol="0" anchor="ctr"/>
          <a:lstStyle/>
          <a:p>
            <a:pPr marL="0" indent="0">
              <a:buNone/>
            </a:pPr>
            <a:r>
              <a:rPr lang="en-US" sz="1100" b="1" kern="0" spc="400" dirty="0">
                <a:solidFill>
                  <a:srgbClr val="E8B839"/>
                </a:solidFill>
                <a:latin typeface="Montserrat" pitchFamily="34" charset="0"/>
                <a:ea typeface="Montserrat" pitchFamily="34" charset="-122"/>
                <a:cs typeface="Montserrat" pitchFamily="34" charset="-120"/>
              </a:rPr>
              <a:t>WHAT TO KEEP IN MIND</a:t>
            </a:r>
            <a:endParaRPr lang="en-US" sz="1100" dirty="0"/>
          </a:p>
        </p:txBody>
      </p:sp>
      <p:sp>
        <p:nvSpPr>
          <p:cNvPr id="27" name="Text 25"/>
          <p:cNvSpPr/>
          <p:nvPr/>
        </p:nvSpPr>
        <p:spPr>
          <a:xfrm>
            <a:off x="6675120" y="2103120"/>
            <a:ext cx="4754880" cy="548640"/>
          </a:xfrm>
          <a:prstGeom prst="rect">
            <a:avLst/>
          </a:prstGeom>
          <a:noFill/>
          <a:ln/>
        </p:spPr>
        <p:txBody>
          <a:bodyPr wrap="square" lIns="0" tIns="0" rIns="0" bIns="0" rtlCol="0" anchor="ctr"/>
          <a:lstStyle/>
          <a:p>
            <a:pPr marL="0" indent="0">
              <a:buNone/>
            </a:pPr>
            <a:r>
              <a:rPr lang="en-US" sz="2000" b="1" dirty="0">
                <a:solidFill>
                  <a:srgbClr val="FFFFFF"/>
                </a:solidFill>
                <a:latin typeface="Montserrat" pitchFamily="34" charset="0"/>
                <a:ea typeface="Montserrat" pitchFamily="34" charset="-122"/>
                <a:cs typeface="Montserrat" pitchFamily="34" charset="-120"/>
              </a:rPr>
              <a:t>Three months is a window, not a year.</a:t>
            </a:r>
            <a:endParaRPr lang="en-US" sz="2000" dirty="0"/>
          </a:p>
        </p:txBody>
      </p:sp>
      <p:sp>
        <p:nvSpPr>
          <p:cNvPr id="28" name="Text 26"/>
          <p:cNvSpPr/>
          <p:nvPr/>
        </p:nvSpPr>
        <p:spPr>
          <a:xfrm>
            <a:off x="6675120" y="2697480"/>
            <a:ext cx="4754880" cy="1143000"/>
          </a:xfrm>
          <a:prstGeom prst="rect">
            <a:avLst/>
          </a:prstGeom>
          <a:noFill/>
          <a:ln/>
        </p:spPr>
        <p:txBody>
          <a:bodyPr wrap="square" lIns="0" tIns="0" rIns="0" bIns="0" rtlCol="0" anchor="ctr"/>
          <a:lstStyle/>
          <a:p>
            <a:pPr marL="0" indent="0">
              <a:buNone/>
            </a:pPr>
            <a:r>
              <a:rPr lang="en-US" sz="1200" dirty="0">
                <a:solidFill>
                  <a:srgbClr val="CBD3E0"/>
                </a:solidFill>
                <a:latin typeface="Montserrat" pitchFamily="34" charset="0"/>
                <a:ea typeface="Montserrat" pitchFamily="34" charset="-122"/>
                <a:cs typeface="Montserrat" pitchFamily="34" charset="-120"/>
              </a:rPr>
              <a:t>The findings in this deck reflect viewing behaviour during an active ICC Cricket World Cup window. That event shaped demand in a way a normal quarter would not.</a:t>
            </a:r>
            <a:endParaRPr lang="en-US" sz="1200" dirty="0"/>
          </a:p>
        </p:txBody>
      </p:sp>
      <p:sp>
        <p:nvSpPr>
          <p:cNvPr id="29" name="Text 27"/>
          <p:cNvSpPr/>
          <p:nvPr/>
        </p:nvSpPr>
        <p:spPr>
          <a:xfrm>
            <a:off x="6675120" y="3931920"/>
            <a:ext cx="4754880" cy="1463040"/>
          </a:xfrm>
          <a:prstGeom prst="rect">
            <a:avLst/>
          </a:prstGeom>
          <a:noFill/>
          <a:ln/>
        </p:spPr>
        <p:txBody>
          <a:bodyPr wrap="square" lIns="0" tIns="0" rIns="0" bIns="0" rtlCol="0" anchor="ctr"/>
          <a:lstStyle/>
          <a:p>
            <a:pPr marL="0" indent="0">
              <a:buNone/>
            </a:pPr>
            <a:r>
              <a:rPr lang="en-US" sz="1200" i="1" dirty="0">
                <a:solidFill>
                  <a:srgbClr val="CBD3E0"/>
                </a:solidFill>
                <a:latin typeface="Montserrat" pitchFamily="34" charset="0"/>
                <a:ea typeface="Montserrat" pitchFamily="34" charset="-122"/>
                <a:cs typeface="Montserrat" pitchFamily="34" charset="-120"/>
              </a:rPr>
              <a:t>Where an insight is materially driven by the cricket window, we have called it out rather than let it flatter the numbers. The recommendations at the end of this deck assume a post-tournament baseline.</a:t>
            </a:r>
            <a:endParaRPr lang="en-US" sz="1200" dirty="0"/>
          </a:p>
        </p:txBody>
      </p:sp>
      <p:sp>
        <p:nvSpPr>
          <p:cNvPr id="30" name="Text 28"/>
          <p:cNvSpPr/>
          <p:nvPr/>
        </p:nvSpPr>
        <p:spPr>
          <a:xfrm>
            <a:off x="6675120" y="5669280"/>
            <a:ext cx="4754880" cy="274320"/>
          </a:xfrm>
          <a:prstGeom prst="rect">
            <a:avLst/>
          </a:prstGeom>
          <a:noFill/>
          <a:ln/>
        </p:spPr>
        <p:txBody>
          <a:bodyPr wrap="square" rtlCol="0" anchor="ctr"/>
          <a:lstStyle/>
          <a:p>
            <a:pPr marL="0" indent="0">
              <a:buNone/>
            </a:pPr>
            <a:r>
              <a:rPr lang="en-US" sz="1000" b="1" kern="0" spc="300" dirty="0">
                <a:solidFill>
                  <a:srgbClr val="E8B839"/>
                </a:solidFill>
                <a:latin typeface="Montserrat" pitchFamily="34" charset="0"/>
                <a:ea typeface="Montserrat" pitchFamily="34" charset="-122"/>
                <a:cs typeface="Montserrat" pitchFamily="34" charset="-120"/>
              </a:rPr>
              <a:t>— A note on method</a:t>
            </a:r>
            <a:endParaRPr lang="en-US" sz="1000" dirty="0"/>
          </a:p>
        </p:txBody>
      </p:sp>
      <p:sp>
        <p:nvSpPr>
          <p:cNvPr id="31" name="Shape 29"/>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32" name="Text 30"/>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33" name="Text 3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Scope</a:t>
            </a:r>
            <a:endParaRPr lang="en-US" sz="900" dirty="0"/>
          </a:p>
        </p:txBody>
      </p:sp>
      <p:sp>
        <p:nvSpPr>
          <p:cNvPr id="34" name="Text 32"/>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27"/>
        </a:solidFill>
        <a:effectLst/>
      </p:bgPr>
    </p:bg>
    <p:spTree>
      <p:nvGrpSpPr>
        <p:cNvPr id="1" name=""/>
        <p:cNvGrpSpPr/>
        <p:nvPr/>
      </p:nvGrpSpPr>
      <p:grpSpPr>
        <a:xfrm>
          <a:off x="0" y="0"/>
          <a:ext cx="0" cy="0"/>
          <a:chOff x="0" y="0"/>
          <a:chExt cx="0" cy="0"/>
        </a:xfrm>
      </p:grpSpPr>
      <p:sp>
        <p:nvSpPr>
          <p:cNvPr id="2" name="Shape 0"/>
          <p:cNvSpPr/>
          <p:nvPr/>
        </p:nvSpPr>
        <p:spPr>
          <a:xfrm>
            <a:off x="0" y="2926080"/>
            <a:ext cx="1097280" cy="10972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457200" y="3154680"/>
            <a:ext cx="9144000" cy="365760"/>
          </a:xfrm>
          <a:prstGeom prst="rect">
            <a:avLst/>
          </a:prstGeom>
          <a:noFill/>
          <a:ln/>
        </p:spPr>
        <p:txBody>
          <a:bodyPr wrap="square" rtlCol="0" anchor="ctr"/>
          <a:lstStyle/>
          <a:p>
            <a:pPr marL="0" indent="0">
              <a:buNone/>
            </a:pPr>
            <a:r>
              <a:rPr lang="en-US" sz="1200" b="1" kern="0" spc="600" dirty="0">
                <a:solidFill>
                  <a:srgbClr val="F26B3A"/>
                </a:solidFill>
                <a:latin typeface="Montserrat" pitchFamily="34" charset="0"/>
                <a:ea typeface="Montserrat" pitchFamily="34" charset="-122"/>
                <a:cs typeface="Montserrat" pitchFamily="34" charset="-120"/>
              </a:rPr>
              <a:t>PART ONE</a:t>
            </a:r>
            <a:endParaRPr lang="en-US" sz="1200" dirty="0"/>
          </a:p>
        </p:txBody>
      </p:sp>
      <p:sp>
        <p:nvSpPr>
          <p:cNvPr id="4" name="Text 2"/>
          <p:cNvSpPr/>
          <p:nvPr/>
        </p:nvSpPr>
        <p:spPr>
          <a:xfrm>
            <a:off x="457200" y="3520440"/>
            <a:ext cx="10972800" cy="914400"/>
          </a:xfrm>
          <a:prstGeom prst="rect">
            <a:avLst/>
          </a:prstGeom>
          <a:noFill/>
          <a:ln/>
        </p:spPr>
        <p:txBody>
          <a:bodyPr wrap="square" lIns="0" tIns="0" rIns="0" bIns="0" rtlCol="0" anchor="ctr"/>
          <a:lstStyle/>
          <a:p>
            <a:pPr marL="0" indent="0">
              <a:buNone/>
            </a:pPr>
            <a:r>
              <a:rPr lang="en-US" sz="4800" b="1" dirty="0">
                <a:solidFill>
                  <a:srgbClr val="FFFFFF"/>
                </a:solidFill>
                <a:latin typeface="Montserrat" pitchFamily="34" charset="0"/>
                <a:ea typeface="Montserrat" pitchFamily="34" charset="-122"/>
                <a:cs typeface="Montserrat" pitchFamily="34" charset="-120"/>
              </a:rPr>
              <a:t>Who came to watch</a:t>
            </a:r>
            <a:endParaRPr lang="en-US" sz="4800" dirty="0"/>
          </a:p>
        </p:txBody>
      </p:sp>
      <p:sp>
        <p:nvSpPr>
          <p:cNvPr id="5" name="Text 3"/>
          <p:cNvSpPr/>
          <p:nvPr/>
        </p:nvSpPr>
        <p:spPr>
          <a:xfrm>
            <a:off x="457200" y="4434840"/>
            <a:ext cx="10972800" cy="548640"/>
          </a:xfrm>
          <a:prstGeom prst="rect">
            <a:avLst/>
          </a:prstGeom>
          <a:noFill/>
          <a:ln/>
        </p:spPr>
        <p:txBody>
          <a:bodyPr wrap="square" lIns="0" tIns="0" rIns="0" bIns="0" rtlCol="0" anchor="ctr"/>
          <a:lstStyle/>
          <a:p>
            <a:pPr marL="0" indent="0">
              <a:buNone/>
            </a:pPr>
            <a:r>
              <a:rPr lang="en-US" sz="1800" i="1" dirty="0">
                <a:solidFill>
                  <a:srgbClr val="9BA7BC"/>
                </a:solidFill>
                <a:latin typeface="Montserrat" pitchFamily="34" charset="0"/>
                <a:ea typeface="Montserrat" pitchFamily="34" charset="-122"/>
                <a:cs typeface="Montserrat" pitchFamily="34" charset="-120"/>
              </a:rPr>
              <a:t>A portrait of our 4,386 viewers — and the two groups we are barely reaching.</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THE AUDIENCE</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Young, male and urban — almost to a fault</a:t>
            </a:r>
            <a:endParaRPr lang="en-US" sz="2800" dirty="0"/>
          </a:p>
        </p:txBody>
      </p:sp>
      <p:sp>
        <p:nvSpPr>
          <p:cNvPr id="5" name="Text 3"/>
          <p:cNvSpPr/>
          <p:nvPr/>
        </p:nvSpPr>
        <p:spPr>
          <a:xfrm>
            <a:off x="457200" y="1508760"/>
            <a:ext cx="36576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BY GENDER</a:t>
            </a:r>
            <a:endParaRPr lang="en-US" sz="1000" dirty="0"/>
          </a:p>
        </p:txBody>
      </p:sp>
      <p:graphicFrame>
        <p:nvGraphicFramePr>
          <p:cNvPr id="6" name="Chart 0"/>
          <p:cNvGraphicFramePr/>
          <p:nvPr/>
        </p:nvGraphicFramePr>
        <p:xfrm>
          <a:off x="274320" y="1783080"/>
          <a:ext cx="36576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4160520" y="1508760"/>
            <a:ext cx="36576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BY AGE BAND</a:t>
            </a:r>
            <a:endParaRPr lang="en-US" sz="1000" dirty="0"/>
          </a:p>
        </p:txBody>
      </p:sp>
      <p:graphicFrame>
        <p:nvGraphicFramePr>
          <p:cNvPr id="8" name="Chart 1"/>
          <p:cNvGraphicFramePr/>
          <p:nvPr/>
        </p:nvGraphicFramePr>
        <p:xfrm>
          <a:off x="4023360" y="1783080"/>
          <a:ext cx="393192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8092440" y="1508760"/>
            <a:ext cx="36576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BY PROVINCE</a:t>
            </a:r>
            <a:endParaRPr lang="en-US" sz="1000" dirty="0"/>
          </a:p>
        </p:txBody>
      </p:sp>
      <p:sp>
        <p:nvSpPr>
          <p:cNvPr id="10" name="Text 6"/>
          <p:cNvSpPr/>
          <p:nvPr/>
        </p:nvSpPr>
        <p:spPr>
          <a:xfrm>
            <a:off x="8092440" y="1801368"/>
            <a:ext cx="1737360" cy="32004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Gauteng</a:t>
            </a:r>
            <a:endParaRPr lang="en-US" sz="1050" dirty="0"/>
          </a:p>
        </p:txBody>
      </p:sp>
      <p:sp>
        <p:nvSpPr>
          <p:cNvPr id="11" name="Shape 7"/>
          <p:cNvSpPr/>
          <p:nvPr/>
        </p:nvSpPr>
        <p:spPr>
          <a:xfrm>
            <a:off x="9875520" y="1892808"/>
            <a:ext cx="1188720" cy="146304"/>
          </a:xfrm>
          <a:prstGeom prst="rect">
            <a:avLst/>
          </a:prstGeom>
          <a:solidFill>
            <a:srgbClr val="E2E6EE"/>
          </a:solidFill>
          <a:ln w="12700">
            <a:solidFill>
              <a:srgbClr val="E2E6EE"/>
            </a:solidFill>
            <a:prstDash val="solid"/>
          </a:ln>
        </p:spPr>
        <p:txBody>
          <a:bodyPr/>
          <a:lstStyle/>
          <a:p>
            <a:endParaRPr lang="en-ZA"/>
          </a:p>
        </p:txBody>
      </p:sp>
      <p:sp>
        <p:nvSpPr>
          <p:cNvPr id="12" name="Shape 8"/>
          <p:cNvSpPr/>
          <p:nvPr/>
        </p:nvSpPr>
        <p:spPr>
          <a:xfrm>
            <a:off x="9875520" y="1892808"/>
            <a:ext cx="1087679" cy="146304"/>
          </a:xfrm>
          <a:prstGeom prst="rect">
            <a:avLst/>
          </a:prstGeom>
          <a:solidFill>
            <a:srgbClr val="15233C"/>
          </a:solidFill>
          <a:ln w="12700">
            <a:solidFill>
              <a:srgbClr val="15233C"/>
            </a:solidFill>
            <a:prstDash val="solid"/>
          </a:ln>
        </p:spPr>
        <p:txBody>
          <a:bodyPr/>
          <a:lstStyle/>
          <a:p>
            <a:endParaRPr lang="en-ZA"/>
          </a:p>
        </p:txBody>
      </p:sp>
      <p:sp>
        <p:nvSpPr>
          <p:cNvPr id="13" name="Text 9"/>
          <p:cNvSpPr/>
          <p:nvPr/>
        </p:nvSpPr>
        <p:spPr>
          <a:xfrm>
            <a:off x="11109960" y="1801368"/>
            <a:ext cx="640080" cy="320040"/>
          </a:xfrm>
          <a:prstGeom prst="rect">
            <a:avLst/>
          </a:prstGeom>
          <a:noFill/>
          <a:ln/>
        </p:spPr>
        <p:txBody>
          <a:bodyPr wrap="square" lIns="0" tIns="0" rIns="0" bIns="0" rtlCol="0" anchor="ctr"/>
          <a:lstStyle/>
          <a:p>
            <a:pPr marL="0" indent="0" algn="r">
              <a:buNone/>
            </a:pPr>
            <a:r>
              <a:rPr lang="en-US" sz="1000" b="1" dirty="0">
                <a:solidFill>
                  <a:srgbClr val="2B3444"/>
                </a:solidFill>
                <a:latin typeface="Montserrat" pitchFamily="34" charset="0"/>
                <a:ea typeface="Montserrat" pitchFamily="34" charset="-122"/>
                <a:cs typeface="Montserrat" pitchFamily="34" charset="-120"/>
              </a:rPr>
              <a:t>36.6%</a:t>
            </a:r>
            <a:endParaRPr lang="en-US" sz="1000" dirty="0"/>
          </a:p>
        </p:txBody>
      </p:sp>
      <p:sp>
        <p:nvSpPr>
          <p:cNvPr id="14" name="Text 10"/>
          <p:cNvSpPr/>
          <p:nvPr/>
        </p:nvSpPr>
        <p:spPr>
          <a:xfrm>
            <a:off x="8092440" y="2185416"/>
            <a:ext cx="1737360" cy="32004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Western Cape</a:t>
            </a:r>
            <a:endParaRPr lang="en-US" sz="1050" dirty="0"/>
          </a:p>
        </p:txBody>
      </p:sp>
      <p:sp>
        <p:nvSpPr>
          <p:cNvPr id="15" name="Shape 11"/>
          <p:cNvSpPr/>
          <p:nvPr/>
        </p:nvSpPr>
        <p:spPr>
          <a:xfrm>
            <a:off x="9875520" y="2276856"/>
            <a:ext cx="1188720" cy="146304"/>
          </a:xfrm>
          <a:prstGeom prst="rect">
            <a:avLst/>
          </a:prstGeom>
          <a:solidFill>
            <a:srgbClr val="E2E6EE"/>
          </a:solidFill>
          <a:ln w="12700">
            <a:solidFill>
              <a:srgbClr val="E2E6EE"/>
            </a:solidFill>
            <a:prstDash val="solid"/>
          </a:ln>
        </p:spPr>
        <p:txBody>
          <a:bodyPr/>
          <a:lstStyle/>
          <a:p>
            <a:endParaRPr lang="en-ZA"/>
          </a:p>
        </p:txBody>
      </p:sp>
      <p:sp>
        <p:nvSpPr>
          <p:cNvPr id="16" name="Shape 12"/>
          <p:cNvSpPr/>
          <p:nvPr/>
        </p:nvSpPr>
        <p:spPr>
          <a:xfrm>
            <a:off x="9875520" y="2276856"/>
            <a:ext cx="523037" cy="146304"/>
          </a:xfrm>
          <a:prstGeom prst="rect">
            <a:avLst/>
          </a:prstGeom>
          <a:solidFill>
            <a:srgbClr val="15233C"/>
          </a:solidFill>
          <a:ln w="12700">
            <a:solidFill>
              <a:srgbClr val="15233C"/>
            </a:solidFill>
            <a:prstDash val="solid"/>
          </a:ln>
        </p:spPr>
        <p:txBody>
          <a:bodyPr/>
          <a:lstStyle/>
          <a:p>
            <a:endParaRPr lang="en-ZA"/>
          </a:p>
        </p:txBody>
      </p:sp>
      <p:sp>
        <p:nvSpPr>
          <p:cNvPr id="17" name="Text 13"/>
          <p:cNvSpPr/>
          <p:nvPr/>
        </p:nvSpPr>
        <p:spPr>
          <a:xfrm>
            <a:off x="11109960" y="2185416"/>
            <a:ext cx="640080" cy="320040"/>
          </a:xfrm>
          <a:prstGeom prst="rect">
            <a:avLst/>
          </a:prstGeom>
          <a:noFill/>
          <a:ln/>
        </p:spPr>
        <p:txBody>
          <a:bodyPr wrap="square" lIns="0" tIns="0" rIns="0" bIns="0" rtlCol="0" anchor="ctr"/>
          <a:lstStyle/>
          <a:p>
            <a:pPr marL="0" indent="0" algn="r">
              <a:buNone/>
            </a:pPr>
            <a:r>
              <a:rPr lang="en-US" sz="1000" b="1" dirty="0">
                <a:solidFill>
                  <a:srgbClr val="2B3444"/>
                </a:solidFill>
                <a:latin typeface="Montserrat" pitchFamily="34" charset="0"/>
                <a:ea typeface="Montserrat" pitchFamily="34" charset="-122"/>
                <a:cs typeface="Montserrat" pitchFamily="34" charset="-120"/>
              </a:rPr>
              <a:t>17.6%</a:t>
            </a:r>
            <a:endParaRPr lang="en-US" sz="1000" dirty="0"/>
          </a:p>
        </p:txBody>
      </p:sp>
      <p:sp>
        <p:nvSpPr>
          <p:cNvPr id="18" name="Text 14"/>
          <p:cNvSpPr/>
          <p:nvPr/>
        </p:nvSpPr>
        <p:spPr>
          <a:xfrm>
            <a:off x="8092440" y="2569464"/>
            <a:ext cx="1737360" cy="32004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KwaZulu-Natal</a:t>
            </a:r>
            <a:endParaRPr lang="en-US" sz="1050" dirty="0"/>
          </a:p>
        </p:txBody>
      </p:sp>
      <p:sp>
        <p:nvSpPr>
          <p:cNvPr id="19" name="Shape 15"/>
          <p:cNvSpPr/>
          <p:nvPr/>
        </p:nvSpPr>
        <p:spPr>
          <a:xfrm>
            <a:off x="9875520" y="2660904"/>
            <a:ext cx="1188720" cy="146304"/>
          </a:xfrm>
          <a:prstGeom prst="rect">
            <a:avLst/>
          </a:prstGeom>
          <a:solidFill>
            <a:srgbClr val="E2E6EE"/>
          </a:solidFill>
          <a:ln w="12700">
            <a:solidFill>
              <a:srgbClr val="E2E6EE"/>
            </a:solidFill>
            <a:prstDash val="solid"/>
          </a:ln>
        </p:spPr>
        <p:txBody>
          <a:bodyPr/>
          <a:lstStyle/>
          <a:p>
            <a:endParaRPr lang="en-ZA"/>
          </a:p>
        </p:txBody>
      </p:sp>
      <p:sp>
        <p:nvSpPr>
          <p:cNvPr id="20" name="Shape 16"/>
          <p:cNvSpPr/>
          <p:nvPr/>
        </p:nvSpPr>
        <p:spPr>
          <a:xfrm>
            <a:off x="9875520" y="2660904"/>
            <a:ext cx="303124" cy="146304"/>
          </a:xfrm>
          <a:prstGeom prst="rect">
            <a:avLst/>
          </a:prstGeom>
          <a:solidFill>
            <a:srgbClr val="15233C"/>
          </a:solidFill>
          <a:ln w="12700">
            <a:solidFill>
              <a:srgbClr val="15233C"/>
            </a:solidFill>
            <a:prstDash val="solid"/>
          </a:ln>
        </p:spPr>
        <p:txBody>
          <a:bodyPr/>
          <a:lstStyle/>
          <a:p>
            <a:endParaRPr lang="en-ZA"/>
          </a:p>
        </p:txBody>
      </p:sp>
      <p:sp>
        <p:nvSpPr>
          <p:cNvPr id="21" name="Text 17"/>
          <p:cNvSpPr/>
          <p:nvPr/>
        </p:nvSpPr>
        <p:spPr>
          <a:xfrm>
            <a:off x="11109960" y="2569464"/>
            <a:ext cx="640080" cy="320040"/>
          </a:xfrm>
          <a:prstGeom prst="rect">
            <a:avLst/>
          </a:prstGeom>
          <a:noFill/>
          <a:ln/>
        </p:spPr>
        <p:txBody>
          <a:bodyPr wrap="square" lIns="0" tIns="0" rIns="0" bIns="0" rtlCol="0" anchor="ctr"/>
          <a:lstStyle/>
          <a:p>
            <a:pPr marL="0" indent="0" algn="r">
              <a:buNone/>
            </a:pPr>
            <a:r>
              <a:rPr lang="en-US" sz="1000" b="1" dirty="0">
                <a:solidFill>
                  <a:srgbClr val="2B3444"/>
                </a:solidFill>
                <a:latin typeface="Montserrat" pitchFamily="34" charset="0"/>
                <a:ea typeface="Montserrat" pitchFamily="34" charset="-122"/>
                <a:cs typeface="Montserrat" pitchFamily="34" charset="-120"/>
              </a:rPr>
              <a:t>10.2%</a:t>
            </a:r>
            <a:endParaRPr lang="en-US" sz="1000" dirty="0"/>
          </a:p>
        </p:txBody>
      </p:sp>
      <p:sp>
        <p:nvSpPr>
          <p:cNvPr id="22" name="Text 18"/>
          <p:cNvSpPr/>
          <p:nvPr/>
        </p:nvSpPr>
        <p:spPr>
          <a:xfrm>
            <a:off x="8092440" y="2953512"/>
            <a:ext cx="1737360" cy="32004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Mpumalanga</a:t>
            </a:r>
            <a:endParaRPr lang="en-US" sz="1050" dirty="0"/>
          </a:p>
        </p:txBody>
      </p:sp>
      <p:sp>
        <p:nvSpPr>
          <p:cNvPr id="23" name="Shape 19"/>
          <p:cNvSpPr/>
          <p:nvPr/>
        </p:nvSpPr>
        <p:spPr>
          <a:xfrm>
            <a:off x="9875520" y="3044952"/>
            <a:ext cx="1188720" cy="146304"/>
          </a:xfrm>
          <a:prstGeom prst="rect">
            <a:avLst/>
          </a:prstGeom>
          <a:solidFill>
            <a:srgbClr val="E2E6EE"/>
          </a:solidFill>
          <a:ln w="12700">
            <a:solidFill>
              <a:srgbClr val="E2E6EE"/>
            </a:solidFill>
            <a:prstDash val="solid"/>
          </a:ln>
        </p:spPr>
        <p:txBody>
          <a:bodyPr/>
          <a:lstStyle/>
          <a:p>
            <a:endParaRPr lang="en-ZA"/>
          </a:p>
        </p:txBody>
      </p:sp>
      <p:sp>
        <p:nvSpPr>
          <p:cNvPr id="24" name="Shape 20"/>
          <p:cNvSpPr/>
          <p:nvPr/>
        </p:nvSpPr>
        <p:spPr>
          <a:xfrm>
            <a:off x="9875520" y="3044952"/>
            <a:ext cx="264490" cy="146304"/>
          </a:xfrm>
          <a:prstGeom prst="rect">
            <a:avLst/>
          </a:prstGeom>
          <a:solidFill>
            <a:srgbClr val="15233C"/>
          </a:solidFill>
          <a:ln w="12700">
            <a:solidFill>
              <a:srgbClr val="15233C"/>
            </a:solidFill>
            <a:prstDash val="solid"/>
          </a:ln>
        </p:spPr>
        <p:txBody>
          <a:bodyPr/>
          <a:lstStyle/>
          <a:p>
            <a:endParaRPr lang="en-ZA"/>
          </a:p>
        </p:txBody>
      </p:sp>
      <p:sp>
        <p:nvSpPr>
          <p:cNvPr id="25" name="Text 21"/>
          <p:cNvSpPr/>
          <p:nvPr/>
        </p:nvSpPr>
        <p:spPr>
          <a:xfrm>
            <a:off x="11109960" y="2953512"/>
            <a:ext cx="640080" cy="320040"/>
          </a:xfrm>
          <a:prstGeom prst="rect">
            <a:avLst/>
          </a:prstGeom>
          <a:noFill/>
          <a:ln/>
        </p:spPr>
        <p:txBody>
          <a:bodyPr wrap="square" lIns="0" tIns="0" rIns="0" bIns="0" rtlCol="0" anchor="ctr"/>
          <a:lstStyle/>
          <a:p>
            <a:pPr marL="0" indent="0" algn="r">
              <a:buNone/>
            </a:pPr>
            <a:r>
              <a:rPr lang="en-US" sz="1000" b="1" dirty="0">
                <a:solidFill>
                  <a:srgbClr val="2B3444"/>
                </a:solidFill>
                <a:latin typeface="Montserrat" pitchFamily="34" charset="0"/>
                <a:ea typeface="Montserrat" pitchFamily="34" charset="-122"/>
                <a:cs typeface="Montserrat" pitchFamily="34" charset="-120"/>
              </a:rPr>
              <a:t>8.9%</a:t>
            </a:r>
            <a:endParaRPr lang="en-US" sz="1000" dirty="0"/>
          </a:p>
        </p:txBody>
      </p:sp>
      <p:sp>
        <p:nvSpPr>
          <p:cNvPr id="26" name="Text 22"/>
          <p:cNvSpPr/>
          <p:nvPr/>
        </p:nvSpPr>
        <p:spPr>
          <a:xfrm>
            <a:off x="8092440" y="3337560"/>
            <a:ext cx="1737360" cy="32004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Limpopo</a:t>
            </a:r>
            <a:endParaRPr lang="en-US" sz="1050" dirty="0"/>
          </a:p>
        </p:txBody>
      </p:sp>
      <p:sp>
        <p:nvSpPr>
          <p:cNvPr id="27" name="Shape 23"/>
          <p:cNvSpPr/>
          <p:nvPr/>
        </p:nvSpPr>
        <p:spPr>
          <a:xfrm>
            <a:off x="9875520" y="3429000"/>
            <a:ext cx="1188720" cy="146304"/>
          </a:xfrm>
          <a:prstGeom prst="rect">
            <a:avLst/>
          </a:prstGeom>
          <a:solidFill>
            <a:srgbClr val="E2E6EE"/>
          </a:solidFill>
          <a:ln w="12700">
            <a:solidFill>
              <a:srgbClr val="E2E6EE"/>
            </a:solidFill>
            <a:prstDash val="solid"/>
          </a:ln>
        </p:spPr>
        <p:txBody>
          <a:bodyPr/>
          <a:lstStyle/>
          <a:p>
            <a:endParaRPr lang="en-ZA"/>
          </a:p>
        </p:txBody>
      </p:sp>
      <p:sp>
        <p:nvSpPr>
          <p:cNvPr id="28" name="Shape 24"/>
          <p:cNvSpPr/>
          <p:nvPr/>
        </p:nvSpPr>
        <p:spPr>
          <a:xfrm>
            <a:off x="9875520" y="3429000"/>
            <a:ext cx="231800" cy="146304"/>
          </a:xfrm>
          <a:prstGeom prst="rect">
            <a:avLst/>
          </a:prstGeom>
          <a:solidFill>
            <a:srgbClr val="15233C"/>
          </a:solidFill>
          <a:ln w="12700">
            <a:solidFill>
              <a:srgbClr val="15233C"/>
            </a:solidFill>
            <a:prstDash val="solid"/>
          </a:ln>
        </p:spPr>
        <p:txBody>
          <a:bodyPr/>
          <a:lstStyle/>
          <a:p>
            <a:endParaRPr lang="en-ZA"/>
          </a:p>
        </p:txBody>
      </p:sp>
      <p:sp>
        <p:nvSpPr>
          <p:cNvPr id="29" name="Text 25"/>
          <p:cNvSpPr/>
          <p:nvPr/>
        </p:nvSpPr>
        <p:spPr>
          <a:xfrm>
            <a:off x="11109960" y="3337560"/>
            <a:ext cx="640080" cy="320040"/>
          </a:xfrm>
          <a:prstGeom prst="rect">
            <a:avLst/>
          </a:prstGeom>
          <a:noFill/>
          <a:ln/>
        </p:spPr>
        <p:txBody>
          <a:bodyPr wrap="square" lIns="0" tIns="0" rIns="0" bIns="0" rtlCol="0" anchor="ctr"/>
          <a:lstStyle/>
          <a:p>
            <a:pPr marL="0" indent="0" algn="r">
              <a:buNone/>
            </a:pPr>
            <a:r>
              <a:rPr lang="en-US" sz="1000" b="1" dirty="0">
                <a:solidFill>
                  <a:srgbClr val="2B3444"/>
                </a:solidFill>
                <a:latin typeface="Montserrat" pitchFamily="34" charset="0"/>
                <a:ea typeface="Montserrat" pitchFamily="34" charset="-122"/>
                <a:cs typeface="Montserrat" pitchFamily="34" charset="-120"/>
              </a:rPr>
              <a:t>7.8%</a:t>
            </a:r>
            <a:endParaRPr lang="en-US" sz="1000" dirty="0"/>
          </a:p>
        </p:txBody>
      </p:sp>
      <p:sp>
        <p:nvSpPr>
          <p:cNvPr id="30" name="Text 26"/>
          <p:cNvSpPr/>
          <p:nvPr/>
        </p:nvSpPr>
        <p:spPr>
          <a:xfrm>
            <a:off x="8092440" y="3721608"/>
            <a:ext cx="1737360" cy="32004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Eastern Cape</a:t>
            </a:r>
            <a:endParaRPr lang="en-US" sz="1050" dirty="0"/>
          </a:p>
        </p:txBody>
      </p:sp>
      <p:sp>
        <p:nvSpPr>
          <p:cNvPr id="31" name="Shape 27"/>
          <p:cNvSpPr/>
          <p:nvPr/>
        </p:nvSpPr>
        <p:spPr>
          <a:xfrm>
            <a:off x="9875520" y="3813048"/>
            <a:ext cx="1188720" cy="146304"/>
          </a:xfrm>
          <a:prstGeom prst="rect">
            <a:avLst/>
          </a:prstGeom>
          <a:solidFill>
            <a:srgbClr val="E2E6EE"/>
          </a:solidFill>
          <a:ln w="12700">
            <a:solidFill>
              <a:srgbClr val="E2E6EE"/>
            </a:solidFill>
            <a:prstDash val="solid"/>
          </a:ln>
        </p:spPr>
        <p:txBody>
          <a:bodyPr/>
          <a:lstStyle/>
          <a:p>
            <a:endParaRPr lang="en-ZA"/>
          </a:p>
        </p:txBody>
      </p:sp>
      <p:sp>
        <p:nvSpPr>
          <p:cNvPr id="32" name="Shape 28"/>
          <p:cNvSpPr/>
          <p:nvPr/>
        </p:nvSpPr>
        <p:spPr>
          <a:xfrm>
            <a:off x="9875520" y="3813048"/>
            <a:ext cx="184252" cy="146304"/>
          </a:xfrm>
          <a:prstGeom prst="rect">
            <a:avLst/>
          </a:prstGeom>
          <a:solidFill>
            <a:srgbClr val="15233C"/>
          </a:solidFill>
          <a:ln w="12700">
            <a:solidFill>
              <a:srgbClr val="15233C"/>
            </a:solidFill>
            <a:prstDash val="solid"/>
          </a:ln>
        </p:spPr>
        <p:txBody>
          <a:bodyPr/>
          <a:lstStyle/>
          <a:p>
            <a:endParaRPr lang="en-ZA"/>
          </a:p>
        </p:txBody>
      </p:sp>
      <p:sp>
        <p:nvSpPr>
          <p:cNvPr id="33" name="Text 29"/>
          <p:cNvSpPr/>
          <p:nvPr/>
        </p:nvSpPr>
        <p:spPr>
          <a:xfrm>
            <a:off x="11109960" y="3721608"/>
            <a:ext cx="640080" cy="320040"/>
          </a:xfrm>
          <a:prstGeom prst="rect">
            <a:avLst/>
          </a:prstGeom>
          <a:noFill/>
          <a:ln/>
        </p:spPr>
        <p:txBody>
          <a:bodyPr wrap="square" lIns="0" tIns="0" rIns="0" bIns="0" rtlCol="0" anchor="ctr"/>
          <a:lstStyle/>
          <a:p>
            <a:pPr marL="0" indent="0" algn="r">
              <a:buNone/>
            </a:pPr>
            <a:r>
              <a:rPr lang="en-US" sz="1000" b="1" dirty="0">
                <a:solidFill>
                  <a:srgbClr val="2B3444"/>
                </a:solidFill>
                <a:latin typeface="Montserrat" pitchFamily="34" charset="0"/>
                <a:ea typeface="Montserrat" pitchFamily="34" charset="-122"/>
                <a:cs typeface="Montserrat" pitchFamily="34" charset="-120"/>
              </a:rPr>
              <a:t>6.2%</a:t>
            </a:r>
            <a:endParaRPr lang="en-US" sz="1000" dirty="0"/>
          </a:p>
        </p:txBody>
      </p:sp>
      <p:sp>
        <p:nvSpPr>
          <p:cNvPr id="34" name="Text 30"/>
          <p:cNvSpPr/>
          <p:nvPr/>
        </p:nvSpPr>
        <p:spPr>
          <a:xfrm>
            <a:off x="8092440" y="4105656"/>
            <a:ext cx="1737360" cy="32004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Other / Unknown</a:t>
            </a:r>
            <a:endParaRPr lang="en-US" sz="1050" dirty="0"/>
          </a:p>
        </p:txBody>
      </p:sp>
      <p:sp>
        <p:nvSpPr>
          <p:cNvPr id="35" name="Shape 31"/>
          <p:cNvSpPr/>
          <p:nvPr/>
        </p:nvSpPr>
        <p:spPr>
          <a:xfrm>
            <a:off x="9875520" y="4197096"/>
            <a:ext cx="1188720" cy="146304"/>
          </a:xfrm>
          <a:prstGeom prst="rect">
            <a:avLst/>
          </a:prstGeom>
          <a:solidFill>
            <a:srgbClr val="E2E6EE"/>
          </a:solidFill>
          <a:ln w="12700">
            <a:solidFill>
              <a:srgbClr val="E2E6EE"/>
            </a:solidFill>
            <a:prstDash val="solid"/>
          </a:ln>
        </p:spPr>
        <p:txBody>
          <a:bodyPr/>
          <a:lstStyle/>
          <a:p>
            <a:endParaRPr lang="en-ZA"/>
          </a:p>
        </p:txBody>
      </p:sp>
      <p:sp>
        <p:nvSpPr>
          <p:cNvPr id="36" name="Shape 32"/>
          <p:cNvSpPr/>
          <p:nvPr/>
        </p:nvSpPr>
        <p:spPr>
          <a:xfrm>
            <a:off x="9875520" y="4197096"/>
            <a:ext cx="377419" cy="146304"/>
          </a:xfrm>
          <a:prstGeom prst="rect">
            <a:avLst/>
          </a:prstGeom>
          <a:solidFill>
            <a:srgbClr val="15233C"/>
          </a:solidFill>
          <a:ln w="12700">
            <a:solidFill>
              <a:srgbClr val="15233C"/>
            </a:solidFill>
            <a:prstDash val="solid"/>
          </a:ln>
        </p:spPr>
        <p:txBody>
          <a:bodyPr/>
          <a:lstStyle/>
          <a:p>
            <a:endParaRPr lang="en-ZA"/>
          </a:p>
        </p:txBody>
      </p:sp>
      <p:sp>
        <p:nvSpPr>
          <p:cNvPr id="37" name="Text 33"/>
          <p:cNvSpPr/>
          <p:nvPr/>
        </p:nvSpPr>
        <p:spPr>
          <a:xfrm>
            <a:off x="11109960" y="4105656"/>
            <a:ext cx="640080" cy="320040"/>
          </a:xfrm>
          <a:prstGeom prst="rect">
            <a:avLst/>
          </a:prstGeom>
          <a:noFill/>
          <a:ln/>
        </p:spPr>
        <p:txBody>
          <a:bodyPr wrap="square" lIns="0" tIns="0" rIns="0" bIns="0" rtlCol="0" anchor="ctr"/>
          <a:lstStyle/>
          <a:p>
            <a:pPr marL="0" indent="0" algn="r">
              <a:buNone/>
            </a:pPr>
            <a:r>
              <a:rPr lang="en-US" sz="1000" b="1" dirty="0">
                <a:solidFill>
                  <a:srgbClr val="2B3444"/>
                </a:solidFill>
                <a:latin typeface="Montserrat" pitchFamily="34" charset="0"/>
                <a:ea typeface="Montserrat" pitchFamily="34" charset="-122"/>
                <a:cs typeface="Montserrat" pitchFamily="34" charset="-120"/>
              </a:rPr>
              <a:t>12.7%</a:t>
            </a:r>
            <a:endParaRPr lang="en-US" sz="1000" dirty="0"/>
          </a:p>
        </p:txBody>
      </p:sp>
      <p:sp>
        <p:nvSpPr>
          <p:cNvPr id="38" name="Shape 34"/>
          <p:cNvSpPr/>
          <p:nvPr/>
        </p:nvSpPr>
        <p:spPr>
          <a:xfrm>
            <a:off x="457200" y="5029200"/>
            <a:ext cx="11247120" cy="1234440"/>
          </a:xfrm>
          <a:prstGeom prst="rect">
            <a:avLst/>
          </a:prstGeom>
          <a:solidFill>
            <a:srgbClr val="F4F6F9"/>
          </a:solidFill>
          <a:ln w="6350">
            <a:solidFill>
              <a:srgbClr val="E2E6EE"/>
            </a:solidFill>
            <a:prstDash val="solid"/>
          </a:ln>
        </p:spPr>
        <p:txBody>
          <a:bodyPr/>
          <a:lstStyle/>
          <a:p>
            <a:endParaRPr lang="en-ZA"/>
          </a:p>
        </p:txBody>
      </p:sp>
      <p:sp>
        <p:nvSpPr>
          <p:cNvPr id="39" name="Shape 35"/>
          <p:cNvSpPr/>
          <p:nvPr/>
        </p:nvSpPr>
        <p:spPr>
          <a:xfrm>
            <a:off x="457200" y="5029200"/>
            <a:ext cx="73152" cy="1234440"/>
          </a:xfrm>
          <a:prstGeom prst="rect">
            <a:avLst/>
          </a:prstGeom>
          <a:solidFill>
            <a:srgbClr val="F26B3A"/>
          </a:solidFill>
          <a:ln w="12700">
            <a:solidFill>
              <a:srgbClr val="F26B3A"/>
            </a:solidFill>
            <a:prstDash val="solid"/>
          </a:ln>
        </p:spPr>
        <p:txBody>
          <a:bodyPr/>
          <a:lstStyle/>
          <a:p>
            <a:endParaRPr lang="en-ZA"/>
          </a:p>
        </p:txBody>
      </p:sp>
      <p:sp>
        <p:nvSpPr>
          <p:cNvPr id="40" name="Text 36"/>
          <p:cNvSpPr/>
          <p:nvPr/>
        </p:nvSpPr>
        <p:spPr>
          <a:xfrm>
            <a:off x="685800" y="5120640"/>
            <a:ext cx="1828800" cy="274320"/>
          </a:xfrm>
          <a:prstGeom prst="rect">
            <a:avLst/>
          </a:prstGeom>
          <a:noFill/>
          <a:ln/>
        </p:spPr>
        <p:txBody>
          <a:bodyPr wrap="square"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SO WHAT</a:t>
            </a:r>
            <a:endParaRPr lang="en-US" sz="1000" dirty="0"/>
          </a:p>
        </p:txBody>
      </p:sp>
      <p:sp>
        <p:nvSpPr>
          <p:cNvPr id="41" name="Text 37"/>
          <p:cNvSpPr/>
          <p:nvPr/>
        </p:nvSpPr>
        <p:spPr>
          <a:xfrm>
            <a:off x="685800" y="5440680"/>
            <a:ext cx="10881360" cy="777240"/>
          </a:xfrm>
          <a:prstGeom prst="rect">
            <a:avLst/>
          </a:prstGeom>
          <a:noFill/>
          <a:ln/>
        </p:spPr>
        <p:txBody>
          <a:bodyPr wrap="square" lIns="0" tIns="0" rIns="0" bIns="0" rtlCol="0" anchor="ctr"/>
          <a:lstStyle/>
          <a:p>
            <a:pPr marL="0" indent="0">
              <a:buNone/>
            </a:pPr>
            <a:r>
              <a:rPr lang="en-US" sz="1250" dirty="0">
                <a:solidFill>
                  <a:srgbClr val="2B3444"/>
                </a:solidFill>
                <a:latin typeface="Montserrat" pitchFamily="34" charset="0"/>
                <a:ea typeface="Montserrat" pitchFamily="34" charset="-122"/>
                <a:cs typeface="Montserrat" pitchFamily="34" charset="-120"/>
              </a:rPr>
              <a:t>BrightTV looked, on this data, like a young male urban product. That is a respectable starting point, not a finishing one. Women (11%), teenagers (4%) and seniors (6%) were collectively three in five South Africans the platform barely touched — and every one of them was a potential subscriber we were not closing.</a:t>
            </a:r>
            <a:endParaRPr lang="en-US" sz="1250" dirty="0"/>
          </a:p>
        </p:txBody>
      </p:sp>
      <p:sp>
        <p:nvSpPr>
          <p:cNvPr id="42" name="Shape 38"/>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43" name="Text 39"/>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44" name="Text 40"/>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1  //  Who came to watch</a:t>
            </a:r>
            <a:endParaRPr lang="en-US" sz="900" dirty="0"/>
          </a:p>
        </p:txBody>
      </p:sp>
      <p:sp>
        <p:nvSpPr>
          <p:cNvPr id="45" name="Text 41"/>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MINUTES PER VIEWER</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The quiet segments that over-index on engagement</a:t>
            </a:r>
            <a:endParaRPr lang="en-US" sz="2800" dirty="0"/>
          </a:p>
        </p:txBody>
      </p:sp>
      <p:sp>
        <p:nvSpPr>
          <p:cNvPr id="5" name="Text 3"/>
          <p:cNvSpPr/>
          <p:nvPr/>
        </p:nvSpPr>
        <p:spPr>
          <a:xfrm>
            <a:off x="457200" y="1463040"/>
            <a:ext cx="54864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AVG MINUTES PER USER, BY SEGMENT</a:t>
            </a:r>
            <a:endParaRPr lang="en-US" sz="1000" dirty="0"/>
          </a:p>
        </p:txBody>
      </p:sp>
      <p:graphicFrame>
        <p:nvGraphicFramePr>
          <p:cNvPr id="6" name="Chart 0"/>
          <p:cNvGraphicFramePr/>
          <p:nvPr/>
        </p:nvGraphicFramePr>
        <p:xfrm>
          <a:off x="274320" y="1783080"/>
          <a:ext cx="59436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400800" y="1783080"/>
            <a:ext cx="5303520" cy="1325880"/>
          </a:xfrm>
          <a:prstGeom prst="rect">
            <a:avLst/>
          </a:prstGeom>
          <a:solidFill>
            <a:srgbClr val="F4F6F9"/>
          </a:solidFill>
          <a:ln w="6350">
            <a:solidFill>
              <a:srgbClr val="E2E6EE"/>
            </a:solidFill>
            <a:prstDash val="solid"/>
          </a:ln>
        </p:spPr>
        <p:txBody>
          <a:bodyPr/>
          <a:lstStyle/>
          <a:p>
            <a:endParaRPr lang="en-ZA"/>
          </a:p>
        </p:txBody>
      </p:sp>
      <p:sp>
        <p:nvSpPr>
          <p:cNvPr id="8" name="Shape 5"/>
          <p:cNvSpPr/>
          <p:nvPr/>
        </p:nvSpPr>
        <p:spPr>
          <a:xfrm>
            <a:off x="6400800" y="1783080"/>
            <a:ext cx="54864" cy="1325880"/>
          </a:xfrm>
          <a:prstGeom prst="rect">
            <a:avLst/>
          </a:prstGeom>
          <a:solidFill>
            <a:srgbClr val="F26B3A"/>
          </a:solidFill>
          <a:ln w="12700">
            <a:solidFill>
              <a:srgbClr val="F26B3A"/>
            </a:solidFill>
            <a:prstDash val="solid"/>
          </a:ln>
        </p:spPr>
        <p:txBody>
          <a:bodyPr/>
          <a:lstStyle/>
          <a:p>
            <a:endParaRPr lang="en-ZA"/>
          </a:p>
        </p:txBody>
      </p:sp>
      <p:sp>
        <p:nvSpPr>
          <p:cNvPr id="9" name="Text 6"/>
          <p:cNvSpPr/>
          <p:nvPr/>
        </p:nvSpPr>
        <p:spPr>
          <a:xfrm>
            <a:off x="6583680" y="1901952"/>
            <a:ext cx="5029200" cy="502920"/>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Indian/Asian viewers watched nearly twice as much per head as white viewers.</a:t>
            </a:r>
            <a:endParaRPr lang="en-US" sz="1300" dirty="0"/>
          </a:p>
        </p:txBody>
      </p:sp>
      <p:sp>
        <p:nvSpPr>
          <p:cNvPr id="10" name="Text 7"/>
          <p:cNvSpPr/>
          <p:nvPr/>
        </p:nvSpPr>
        <p:spPr>
          <a:xfrm>
            <a:off x="6583680" y="2441448"/>
            <a:ext cx="5029200" cy="640080"/>
          </a:xfrm>
          <a:prstGeom prst="rect">
            <a:avLst/>
          </a:prstGeom>
          <a:noFill/>
          <a:ln/>
        </p:spPr>
        <p:txBody>
          <a:bodyPr wrap="square" lIns="0" tIns="0" rIns="0" bIns="0" rtlCol="0" anchor="ctr"/>
          <a:lstStyle/>
          <a:p>
            <a:pPr marL="0" indent="0">
              <a:buNone/>
            </a:pPr>
            <a:r>
              <a:rPr lang="en-US" sz="1100" dirty="0">
                <a:solidFill>
                  <a:srgbClr val="2B3444"/>
                </a:solidFill>
                <a:latin typeface="Montserrat" pitchFamily="34" charset="0"/>
                <a:ea typeface="Montserrat" pitchFamily="34" charset="-122"/>
                <a:cs typeface="Montserrat" pitchFamily="34" charset="-120"/>
              </a:rPr>
              <a:t>They made up 17% of users but delivered 23% of minutes. The appetite is there; the content acquisition has matched it.</a:t>
            </a:r>
            <a:endParaRPr lang="en-US" sz="1100" dirty="0"/>
          </a:p>
        </p:txBody>
      </p:sp>
      <p:sp>
        <p:nvSpPr>
          <p:cNvPr id="11" name="Shape 8"/>
          <p:cNvSpPr/>
          <p:nvPr/>
        </p:nvSpPr>
        <p:spPr>
          <a:xfrm>
            <a:off x="6400800" y="3246120"/>
            <a:ext cx="5303520" cy="1325880"/>
          </a:xfrm>
          <a:prstGeom prst="rect">
            <a:avLst/>
          </a:prstGeom>
          <a:solidFill>
            <a:srgbClr val="F4F6F9"/>
          </a:solidFill>
          <a:ln w="6350">
            <a:solidFill>
              <a:srgbClr val="E2E6EE"/>
            </a:solidFill>
            <a:prstDash val="solid"/>
          </a:ln>
        </p:spPr>
        <p:txBody>
          <a:bodyPr/>
          <a:lstStyle/>
          <a:p>
            <a:endParaRPr lang="en-ZA"/>
          </a:p>
        </p:txBody>
      </p:sp>
      <p:sp>
        <p:nvSpPr>
          <p:cNvPr id="12" name="Shape 9"/>
          <p:cNvSpPr/>
          <p:nvPr/>
        </p:nvSpPr>
        <p:spPr>
          <a:xfrm>
            <a:off x="6400800" y="3246120"/>
            <a:ext cx="54864" cy="1325880"/>
          </a:xfrm>
          <a:prstGeom prst="rect">
            <a:avLst/>
          </a:prstGeom>
          <a:solidFill>
            <a:srgbClr val="F26B3A"/>
          </a:solidFill>
          <a:ln w="12700">
            <a:solidFill>
              <a:srgbClr val="F26B3A"/>
            </a:solidFill>
            <a:prstDash val="solid"/>
          </a:ln>
        </p:spPr>
        <p:txBody>
          <a:bodyPr/>
          <a:lstStyle/>
          <a:p>
            <a:endParaRPr lang="en-ZA"/>
          </a:p>
        </p:txBody>
      </p:sp>
      <p:sp>
        <p:nvSpPr>
          <p:cNvPr id="13" name="Text 10"/>
          <p:cNvSpPr/>
          <p:nvPr/>
        </p:nvSpPr>
        <p:spPr>
          <a:xfrm>
            <a:off x="6583680" y="3364992"/>
            <a:ext cx="5029200" cy="502920"/>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Eastern and Western Cape led on minutes per head.</a:t>
            </a:r>
            <a:endParaRPr lang="en-US" sz="1300" dirty="0"/>
          </a:p>
        </p:txBody>
      </p:sp>
      <p:sp>
        <p:nvSpPr>
          <p:cNvPr id="14" name="Text 11"/>
          <p:cNvSpPr/>
          <p:nvPr/>
        </p:nvSpPr>
        <p:spPr>
          <a:xfrm>
            <a:off x="6583680" y="3904488"/>
            <a:ext cx="5029200" cy="640080"/>
          </a:xfrm>
          <a:prstGeom prst="rect">
            <a:avLst/>
          </a:prstGeom>
          <a:noFill/>
          <a:ln/>
        </p:spPr>
        <p:txBody>
          <a:bodyPr wrap="square" lIns="0" tIns="0" rIns="0" bIns="0" rtlCol="0" anchor="ctr"/>
          <a:lstStyle/>
          <a:p>
            <a:pPr marL="0" indent="0">
              <a:buNone/>
            </a:pPr>
            <a:r>
              <a:rPr lang="en-US" sz="1100" dirty="0">
                <a:solidFill>
                  <a:srgbClr val="2B3444"/>
                </a:solidFill>
                <a:latin typeface="Montserrat" pitchFamily="34" charset="0"/>
                <a:ea typeface="Montserrat" pitchFamily="34" charset="-122"/>
                <a:cs typeface="Montserrat" pitchFamily="34" charset="-120"/>
              </a:rPr>
              <a:t>Eastern Cape averaged 25.5 min per viewer and Western Cape 23.4 min, both ahead of Gauteng at 20.7 min. Gauteng gives us scale; the Capes give us depth.</a:t>
            </a:r>
            <a:endParaRPr lang="en-US" sz="1100" dirty="0"/>
          </a:p>
        </p:txBody>
      </p:sp>
      <p:sp>
        <p:nvSpPr>
          <p:cNvPr id="15" name="Shape 12"/>
          <p:cNvSpPr/>
          <p:nvPr/>
        </p:nvSpPr>
        <p:spPr>
          <a:xfrm>
            <a:off x="6400800" y="4709160"/>
            <a:ext cx="5303520" cy="1325880"/>
          </a:xfrm>
          <a:prstGeom prst="rect">
            <a:avLst/>
          </a:prstGeom>
          <a:solidFill>
            <a:srgbClr val="F4F6F9"/>
          </a:solidFill>
          <a:ln w="6350">
            <a:solidFill>
              <a:srgbClr val="E2E6EE"/>
            </a:solidFill>
            <a:prstDash val="solid"/>
          </a:ln>
        </p:spPr>
        <p:txBody>
          <a:bodyPr/>
          <a:lstStyle/>
          <a:p>
            <a:endParaRPr lang="en-ZA"/>
          </a:p>
        </p:txBody>
      </p:sp>
      <p:sp>
        <p:nvSpPr>
          <p:cNvPr id="16" name="Shape 13"/>
          <p:cNvSpPr/>
          <p:nvPr/>
        </p:nvSpPr>
        <p:spPr>
          <a:xfrm>
            <a:off x="6400800" y="4709160"/>
            <a:ext cx="54864" cy="1325880"/>
          </a:xfrm>
          <a:prstGeom prst="rect">
            <a:avLst/>
          </a:prstGeom>
          <a:solidFill>
            <a:srgbClr val="F26B3A"/>
          </a:solidFill>
          <a:ln w="12700">
            <a:solidFill>
              <a:srgbClr val="F26B3A"/>
            </a:solidFill>
            <a:prstDash val="solid"/>
          </a:ln>
        </p:spPr>
        <p:txBody>
          <a:bodyPr/>
          <a:lstStyle/>
          <a:p>
            <a:endParaRPr lang="en-ZA"/>
          </a:p>
        </p:txBody>
      </p:sp>
      <p:sp>
        <p:nvSpPr>
          <p:cNvPr id="17" name="Text 14"/>
          <p:cNvSpPr/>
          <p:nvPr/>
        </p:nvSpPr>
        <p:spPr>
          <a:xfrm>
            <a:off x="6583680" y="4828032"/>
            <a:ext cx="5029200" cy="502920"/>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Women watched 22% fewer minutes per head than men.</a:t>
            </a:r>
            <a:endParaRPr lang="en-US" sz="1300" dirty="0"/>
          </a:p>
        </p:txBody>
      </p:sp>
      <p:sp>
        <p:nvSpPr>
          <p:cNvPr id="18" name="Text 15"/>
          <p:cNvSpPr/>
          <p:nvPr/>
        </p:nvSpPr>
        <p:spPr>
          <a:xfrm>
            <a:off x="6583680" y="5367528"/>
            <a:ext cx="5029200" cy="640080"/>
          </a:xfrm>
          <a:prstGeom prst="rect">
            <a:avLst/>
          </a:prstGeom>
          <a:noFill/>
          <a:ln/>
        </p:spPr>
        <p:txBody>
          <a:bodyPr wrap="square" lIns="0" tIns="0" rIns="0" bIns="0" rtlCol="0" anchor="ctr"/>
          <a:lstStyle/>
          <a:p>
            <a:pPr marL="0" indent="0">
              <a:buNone/>
            </a:pPr>
            <a:r>
              <a:rPr lang="en-US" sz="1100" dirty="0">
                <a:solidFill>
                  <a:srgbClr val="2B3444"/>
                </a:solidFill>
                <a:latin typeface="Montserrat" pitchFamily="34" charset="0"/>
                <a:ea typeface="Montserrat" pitchFamily="34" charset="-122"/>
                <a:cs typeface="Montserrat" pitchFamily="34" charset="-120"/>
              </a:rPr>
              <a:t>17.0 vs 21.7 min per user. A content-mix problem, not a will-to-watch problem — and the cheapest segment to lift first.</a:t>
            </a:r>
            <a:endParaRPr lang="en-US" sz="1100" dirty="0"/>
          </a:p>
        </p:txBody>
      </p:sp>
      <p:sp>
        <p:nvSpPr>
          <p:cNvPr id="19" name="Shape 16"/>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20" name="Text 17"/>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21" name="Text 18"/>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1  //  Who came to watch</a:t>
            </a:r>
            <a:endParaRPr lang="en-US" sz="900" dirty="0"/>
          </a:p>
        </p:txBody>
      </p:sp>
      <p:sp>
        <p:nvSpPr>
          <p:cNvPr id="22" name="Text 19"/>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RETENTION</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Half the audience watched once and left</a:t>
            </a:r>
            <a:endParaRPr lang="en-US" sz="2800" dirty="0"/>
          </a:p>
        </p:txBody>
      </p:sp>
      <p:sp>
        <p:nvSpPr>
          <p:cNvPr id="5" name="Text 3"/>
          <p:cNvSpPr/>
          <p:nvPr/>
        </p:nvSpPr>
        <p:spPr>
          <a:xfrm>
            <a:off x="457200" y="1463040"/>
            <a:ext cx="54864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HOW MANY SESSIONS EACH VIEWER HAD</a:t>
            </a:r>
            <a:endParaRPr lang="en-US" sz="1000" dirty="0"/>
          </a:p>
        </p:txBody>
      </p:sp>
      <p:graphicFrame>
        <p:nvGraphicFramePr>
          <p:cNvPr id="6" name="Chart 0"/>
          <p:cNvGraphicFramePr/>
          <p:nvPr/>
        </p:nvGraphicFramePr>
        <p:xfrm>
          <a:off x="274320" y="1783080"/>
          <a:ext cx="59436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583680" y="1737360"/>
            <a:ext cx="5486400" cy="1371600"/>
          </a:xfrm>
          <a:prstGeom prst="rect">
            <a:avLst/>
          </a:prstGeom>
          <a:noFill/>
          <a:ln/>
        </p:spPr>
        <p:txBody>
          <a:bodyPr wrap="square" lIns="0" tIns="0" rIns="0" bIns="0" rtlCol="0" anchor="ctr"/>
          <a:lstStyle/>
          <a:p>
            <a:pPr marL="0" indent="0">
              <a:buNone/>
            </a:pPr>
            <a:r>
              <a:rPr lang="en-US" sz="11000" b="1" dirty="0">
                <a:solidFill>
                  <a:srgbClr val="F26B3A"/>
                </a:solidFill>
                <a:latin typeface="Montserrat" pitchFamily="34" charset="0"/>
                <a:ea typeface="Montserrat" pitchFamily="34" charset="-122"/>
                <a:cs typeface="Montserrat" pitchFamily="34" charset="-120"/>
              </a:rPr>
              <a:t>51.3%</a:t>
            </a:r>
            <a:endParaRPr lang="en-US" sz="11000" dirty="0"/>
          </a:p>
        </p:txBody>
      </p:sp>
      <p:sp>
        <p:nvSpPr>
          <p:cNvPr id="8" name="Text 5"/>
          <p:cNvSpPr/>
          <p:nvPr/>
        </p:nvSpPr>
        <p:spPr>
          <a:xfrm>
            <a:off x="6583680" y="3063240"/>
            <a:ext cx="5394960" cy="822960"/>
          </a:xfrm>
          <a:prstGeom prst="rect">
            <a:avLst/>
          </a:prstGeom>
          <a:noFill/>
          <a:ln/>
        </p:spPr>
        <p:txBody>
          <a:bodyPr wrap="square" lIns="0" tIns="0" rIns="0" bIns="0" rtlCol="0" anchor="ctr"/>
          <a:lstStyle/>
          <a:p>
            <a:pPr marL="0" indent="0">
              <a:buNone/>
            </a:pPr>
            <a:r>
              <a:rPr lang="en-US" sz="1600" b="1" dirty="0">
                <a:solidFill>
                  <a:srgbClr val="0F172A"/>
                </a:solidFill>
                <a:latin typeface="Montserrat" pitchFamily="34" charset="0"/>
                <a:ea typeface="Montserrat" pitchFamily="34" charset="-122"/>
                <a:cs typeface="Montserrat" pitchFamily="34" charset="-120"/>
              </a:rPr>
              <a:t>of viewers had exactly one session across the full three months.</a:t>
            </a:r>
            <a:endParaRPr lang="en-US" sz="1600" dirty="0"/>
          </a:p>
        </p:txBody>
      </p:sp>
      <p:sp>
        <p:nvSpPr>
          <p:cNvPr id="9" name="Text 6"/>
          <p:cNvSpPr/>
          <p:nvPr/>
        </p:nvSpPr>
        <p:spPr>
          <a:xfrm>
            <a:off x="6583680" y="3977640"/>
            <a:ext cx="5394960" cy="822960"/>
          </a:xfrm>
          <a:prstGeom prst="rect">
            <a:avLst/>
          </a:prstGeom>
          <a:noFill/>
          <a:ln/>
        </p:spPr>
        <p:txBody>
          <a:bodyPr wrap="square" lIns="0" tIns="0" rIns="0" bIns="0" rtlCol="0" anchor="ctr"/>
          <a:lstStyle/>
          <a:p>
            <a:pPr marL="0" indent="0">
              <a:buNone/>
            </a:pPr>
            <a:r>
              <a:rPr lang="en-US" sz="1300" dirty="0">
                <a:solidFill>
                  <a:srgbClr val="2B3444"/>
                </a:solidFill>
                <a:latin typeface="Montserrat" pitchFamily="34" charset="0"/>
                <a:ea typeface="Montserrat" pitchFamily="34" charset="-122"/>
                <a:cs typeface="Montserrat" pitchFamily="34" charset="-120"/>
              </a:rPr>
              <a:t>Put plainly — 2,248 people came to BrightTV once, saw something, and did not return inside the window.</a:t>
            </a:r>
            <a:endParaRPr lang="en-US" sz="1300" dirty="0"/>
          </a:p>
        </p:txBody>
      </p:sp>
      <p:sp>
        <p:nvSpPr>
          <p:cNvPr id="10" name="Shape 7"/>
          <p:cNvSpPr/>
          <p:nvPr/>
        </p:nvSpPr>
        <p:spPr>
          <a:xfrm>
            <a:off x="6583680" y="4892040"/>
            <a:ext cx="5120640" cy="1371600"/>
          </a:xfrm>
          <a:prstGeom prst="rect">
            <a:avLst/>
          </a:prstGeom>
          <a:solidFill>
            <a:srgbClr val="15233C"/>
          </a:solidFill>
          <a:ln w="12700">
            <a:solidFill>
              <a:srgbClr val="15233C"/>
            </a:solidFill>
            <a:prstDash val="solid"/>
          </a:ln>
        </p:spPr>
        <p:txBody>
          <a:bodyPr/>
          <a:lstStyle/>
          <a:p>
            <a:endParaRPr lang="en-ZA"/>
          </a:p>
        </p:txBody>
      </p:sp>
      <p:sp>
        <p:nvSpPr>
          <p:cNvPr id="11" name="Shape 8"/>
          <p:cNvSpPr/>
          <p:nvPr/>
        </p:nvSpPr>
        <p:spPr>
          <a:xfrm>
            <a:off x="6583680" y="4892040"/>
            <a:ext cx="73152" cy="1371600"/>
          </a:xfrm>
          <a:prstGeom prst="rect">
            <a:avLst/>
          </a:prstGeom>
          <a:solidFill>
            <a:srgbClr val="E8B839"/>
          </a:solidFill>
          <a:ln w="12700">
            <a:solidFill>
              <a:srgbClr val="E8B839"/>
            </a:solidFill>
            <a:prstDash val="solid"/>
          </a:ln>
        </p:spPr>
        <p:txBody>
          <a:bodyPr/>
          <a:lstStyle/>
          <a:p>
            <a:endParaRPr lang="en-ZA"/>
          </a:p>
        </p:txBody>
      </p:sp>
      <p:sp>
        <p:nvSpPr>
          <p:cNvPr id="12" name="Text 9"/>
          <p:cNvSpPr/>
          <p:nvPr/>
        </p:nvSpPr>
        <p:spPr>
          <a:xfrm>
            <a:off x="6766560" y="4983480"/>
            <a:ext cx="4754880" cy="274320"/>
          </a:xfrm>
          <a:prstGeom prst="rect">
            <a:avLst/>
          </a:prstGeom>
          <a:noFill/>
          <a:ln/>
        </p:spPr>
        <p:txBody>
          <a:bodyPr wrap="square" rtlCol="0" anchor="ctr"/>
          <a:lstStyle/>
          <a:p>
            <a:pPr marL="0" indent="0">
              <a:buNone/>
            </a:pPr>
            <a:r>
              <a:rPr lang="en-US" sz="1000" b="1" kern="0" spc="300" dirty="0">
                <a:solidFill>
                  <a:srgbClr val="E8B839"/>
                </a:solidFill>
                <a:latin typeface="Montserrat" pitchFamily="34" charset="0"/>
                <a:ea typeface="Montserrat" pitchFamily="34" charset="-122"/>
                <a:cs typeface="Montserrat" pitchFamily="34" charset="-120"/>
              </a:rPr>
              <a:t>THE COMMERCIAL READ</a:t>
            </a:r>
            <a:endParaRPr lang="en-US" sz="1000" dirty="0"/>
          </a:p>
        </p:txBody>
      </p:sp>
      <p:sp>
        <p:nvSpPr>
          <p:cNvPr id="13" name="Text 10"/>
          <p:cNvSpPr/>
          <p:nvPr/>
        </p:nvSpPr>
        <p:spPr>
          <a:xfrm>
            <a:off x="6766560" y="5303520"/>
            <a:ext cx="4754880" cy="914400"/>
          </a:xfrm>
          <a:prstGeom prst="rect">
            <a:avLst/>
          </a:prstGeom>
          <a:noFill/>
          <a:ln/>
        </p:spPr>
        <p:txBody>
          <a:bodyPr wrap="square" lIns="0" tIns="0" rIns="0" bIns="0" rtlCol="0" anchor="ctr"/>
          <a:lstStyle/>
          <a:p>
            <a:pPr marL="0" indent="0">
              <a:buNone/>
            </a:pPr>
            <a:r>
              <a:rPr lang="en-US" sz="1200" dirty="0">
                <a:solidFill>
                  <a:srgbClr val="FFFFFF"/>
                </a:solidFill>
                <a:latin typeface="Montserrat" pitchFamily="34" charset="0"/>
                <a:ea typeface="Montserrat" pitchFamily="34" charset="-122"/>
                <a:cs typeface="Montserrat" pitchFamily="34" charset="-120"/>
              </a:rPr>
              <a:t>The acquisition funnel was doing its job. The product failed to give viewers a reason to open it twice. Fixing that one behaviour would, on its own, add meaningful lift to the base.</a:t>
            </a:r>
            <a:endParaRPr lang="en-US" sz="1200" dirty="0"/>
          </a:p>
        </p:txBody>
      </p:sp>
      <p:sp>
        <p:nvSpPr>
          <p:cNvPr id="14" name="Shape 11"/>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15" name="Text 12"/>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16" name="Text 13"/>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2  //  How they watched</a:t>
            </a:r>
            <a:endParaRPr lang="en-US" sz="900" dirty="0"/>
          </a:p>
        </p:txBody>
      </p:sp>
      <p:sp>
        <p:nvSpPr>
          <p:cNvPr id="17" name="Text 14"/>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WHEN THEY WATCHED</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Afternoons were the heartbeat, Mondays the dip</a:t>
            </a:r>
            <a:endParaRPr lang="en-US" sz="2800" dirty="0"/>
          </a:p>
        </p:txBody>
      </p:sp>
      <p:sp>
        <p:nvSpPr>
          <p:cNvPr id="5" name="Text 3"/>
          <p:cNvSpPr/>
          <p:nvPr/>
        </p:nvSpPr>
        <p:spPr>
          <a:xfrm>
            <a:off x="457200" y="1463040"/>
            <a:ext cx="54864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MINUTES CONSUMED BY HOUR (SA TIME)</a:t>
            </a:r>
            <a:endParaRPr lang="en-US" sz="1000" dirty="0"/>
          </a:p>
        </p:txBody>
      </p:sp>
      <p:graphicFrame>
        <p:nvGraphicFramePr>
          <p:cNvPr id="6" name="Chart 0"/>
          <p:cNvGraphicFramePr/>
          <p:nvPr/>
        </p:nvGraphicFramePr>
        <p:xfrm>
          <a:off x="274320" y="1737360"/>
          <a:ext cx="1152144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457200" y="4069080"/>
            <a:ext cx="548640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MINUTES CONSUMED BY DAY OF WEEK</a:t>
            </a:r>
            <a:endParaRPr lang="en-US" sz="1000" dirty="0"/>
          </a:p>
        </p:txBody>
      </p:sp>
      <p:graphicFrame>
        <p:nvGraphicFramePr>
          <p:cNvPr id="8" name="Chart 1"/>
          <p:cNvGraphicFramePr/>
          <p:nvPr/>
        </p:nvGraphicFramePr>
        <p:xfrm>
          <a:off x="274320" y="4343400"/>
          <a:ext cx="7315200" cy="210312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5"/>
          <p:cNvSpPr/>
          <p:nvPr/>
        </p:nvSpPr>
        <p:spPr>
          <a:xfrm>
            <a:off x="7772400" y="4343400"/>
            <a:ext cx="4023360" cy="2103120"/>
          </a:xfrm>
          <a:prstGeom prst="rect">
            <a:avLst/>
          </a:prstGeom>
          <a:solidFill>
            <a:srgbClr val="F4F6F9"/>
          </a:solidFill>
          <a:ln w="6350">
            <a:solidFill>
              <a:srgbClr val="E2E6EE"/>
            </a:solidFill>
            <a:prstDash val="solid"/>
          </a:ln>
        </p:spPr>
        <p:txBody>
          <a:bodyPr/>
          <a:lstStyle/>
          <a:p>
            <a:endParaRPr lang="en-ZA"/>
          </a:p>
        </p:txBody>
      </p:sp>
      <p:sp>
        <p:nvSpPr>
          <p:cNvPr id="10" name="Shape 6"/>
          <p:cNvSpPr/>
          <p:nvPr/>
        </p:nvSpPr>
        <p:spPr>
          <a:xfrm>
            <a:off x="7772400" y="4343400"/>
            <a:ext cx="54864" cy="2103120"/>
          </a:xfrm>
          <a:prstGeom prst="rect">
            <a:avLst/>
          </a:prstGeom>
          <a:solidFill>
            <a:srgbClr val="F26B3A"/>
          </a:solidFill>
          <a:ln w="12700">
            <a:solidFill>
              <a:srgbClr val="F26B3A"/>
            </a:solidFill>
            <a:prstDash val="solid"/>
          </a:ln>
        </p:spPr>
        <p:txBody>
          <a:bodyPr/>
          <a:lstStyle/>
          <a:p>
            <a:endParaRPr lang="en-ZA"/>
          </a:p>
        </p:txBody>
      </p:sp>
      <p:sp>
        <p:nvSpPr>
          <p:cNvPr id="11" name="Text 7"/>
          <p:cNvSpPr/>
          <p:nvPr/>
        </p:nvSpPr>
        <p:spPr>
          <a:xfrm>
            <a:off x="7955280" y="4434840"/>
            <a:ext cx="374904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READ THE SHAPE</a:t>
            </a:r>
            <a:endParaRPr lang="en-US" sz="1000" dirty="0"/>
          </a:p>
        </p:txBody>
      </p:sp>
      <p:sp>
        <p:nvSpPr>
          <p:cNvPr id="12" name="Text 8"/>
          <p:cNvSpPr/>
          <p:nvPr/>
        </p:nvSpPr>
        <p:spPr>
          <a:xfrm>
            <a:off x="7955280" y="4736592"/>
            <a:ext cx="3749040" cy="1691640"/>
          </a:xfrm>
          <a:prstGeom prst="rect">
            <a:avLst/>
          </a:prstGeom>
          <a:noFill/>
          <a:ln/>
        </p:spPr>
        <p:txBody>
          <a:bodyPr wrap="square" lIns="0" tIns="0" rIns="0" bIns="0" rtlCol="0" anchor="ctr"/>
          <a:lstStyle/>
          <a:p>
            <a:pPr marL="0" indent="0">
              <a:spcAft>
                <a:spcPts val="200"/>
              </a:spcAft>
              <a:buNone/>
            </a:pPr>
            <a:r>
              <a:rPr lang="en-US" sz="1100" b="1" dirty="0">
                <a:solidFill>
                  <a:srgbClr val="0F172A"/>
                </a:solidFill>
                <a:latin typeface="Montserrat" pitchFamily="34" charset="0"/>
                <a:ea typeface="Montserrat" pitchFamily="34" charset="-122"/>
                <a:cs typeface="Montserrat" pitchFamily="34" charset="-120"/>
              </a:rPr>
              <a:t>Peak hour: 17:00.</a:t>
            </a:r>
            <a:endParaRPr lang="en-US" sz="1100" dirty="0"/>
          </a:p>
          <a:p>
            <a:pPr marL="0" indent="0">
              <a:spcAft>
                <a:spcPts val="200"/>
              </a:spcAft>
              <a:buNone/>
            </a:pPr>
            <a:r>
              <a:rPr lang="en-US" sz="1100" dirty="0">
                <a:solidFill>
                  <a:srgbClr val="2B3444"/>
                </a:solidFill>
                <a:latin typeface="Montserrat" pitchFamily="34" charset="0"/>
                <a:ea typeface="Montserrat" pitchFamily="34" charset="-122"/>
                <a:cs typeface="Montserrat" pitchFamily="34" charset="-120"/>
              </a:rPr>
              <a:t>Morning through late afternoon carried 76% of minutes.</a:t>
            </a:r>
            <a:endParaRPr lang="en-US" sz="1100" dirty="0"/>
          </a:p>
          <a:p>
            <a:pPr marL="0" indent="0">
              <a:spcAft>
                <a:spcPts val="200"/>
              </a:spcAft>
              <a:buNone/>
            </a:pPr>
            <a:endParaRPr lang="en-US" sz="1100" dirty="0"/>
          </a:p>
          <a:p>
            <a:pPr marL="0" indent="0">
              <a:spcAft>
                <a:spcPts val="200"/>
              </a:spcAft>
              <a:buNone/>
            </a:pPr>
            <a:r>
              <a:rPr lang="en-US" sz="1100" b="1" dirty="0">
                <a:solidFill>
                  <a:srgbClr val="0F172A"/>
                </a:solidFill>
                <a:latin typeface="Montserrat" pitchFamily="34" charset="0"/>
                <a:ea typeface="Montserrat" pitchFamily="34" charset="-122"/>
                <a:cs typeface="Montserrat" pitchFamily="34" charset="-120"/>
              </a:rPr>
              <a:t>Saturday led the week.</a:t>
            </a:r>
            <a:endParaRPr lang="en-US" sz="1100" dirty="0"/>
          </a:p>
          <a:p>
            <a:pPr marL="0" indent="0">
              <a:spcAft>
                <a:spcPts val="200"/>
              </a:spcAft>
              <a:buNone/>
            </a:pPr>
            <a:r>
              <a:rPr lang="en-US" sz="1100" dirty="0">
                <a:solidFill>
                  <a:srgbClr val="2B3444"/>
                </a:solidFill>
                <a:latin typeface="Montserrat" pitchFamily="34" charset="0"/>
                <a:ea typeface="Montserrat" pitchFamily="34" charset="-122"/>
                <a:cs typeface="Montserrat" pitchFamily="34" charset="-120"/>
              </a:rPr>
              <a:t>Monday lagged 61% behind it — our single biggest daily gap.</a:t>
            </a:r>
            <a:endParaRPr lang="en-US" sz="1100" dirty="0"/>
          </a:p>
        </p:txBody>
      </p:sp>
      <p:sp>
        <p:nvSpPr>
          <p:cNvPr id="13" name="Shape 9"/>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14" name="Text 10"/>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15" name="Text 1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2  //  How they watched</a:t>
            </a:r>
            <a:endParaRPr lang="en-US" sz="900" dirty="0"/>
          </a:p>
        </p:txBody>
      </p:sp>
      <p:sp>
        <p:nvSpPr>
          <p:cNvPr id="16" name="Text 12"/>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527"/>
        </a:solidFill>
        <a:effectLst/>
      </p:bgPr>
    </p:bg>
    <p:spTree>
      <p:nvGrpSpPr>
        <p:cNvPr id="1" name=""/>
        <p:cNvGrpSpPr/>
        <p:nvPr/>
      </p:nvGrpSpPr>
      <p:grpSpPr>
        <a:xfrm>
          <a:off x="0" y="0"/>
          <a:ext cx="0" cy="0"/>
          <a:chOff x="0" y="0"/>
          <a:chExt cx="0" cy="0"/>
        </a:xfrm>
      </p:grpSpPr>
      <p:sp>
        <p:nvSpPr>
          <p:cNvPr id="2" name="Shape 0"/>
          <p:cNvSpPr/>
          <p:nvPr/>
        </p:nvSpPr>
        <p:spPr>
          <a:xfrm>
            <a:off x="0" y="2926080"/>
            <a:ext cx="1097280" cy="10972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457200" y="3154680"/>
            <a:ext cx="9144000" cy="365760"/>
          </a:xfrm>
          <a:prstGeom prst="rect">
            <a:avLst/>
          </a:prstGeom>
          <a:noFill/>
          <a:ln/>
        </p:spPr>
        <p:txBody>
          <a:bodyPr wrap="square" rtlCol="0" anchor="ctr"/>
          <a:lstStyle/>
          <a:p>
            <a:pPr marL="0" indent="0">
              <a:buNone/>
            </a:pPr>
            <a:r>
              <a:rPr lang="en-US" sz="1200" b="1" kern="0" spc="600" dirty="0">
                <a:solidFill>
                  <a:srgbClr val="F26B3A"/>
                </a:solidFill>
                <a:latin typeface="Montserrat" pitchFamily="34" charset="0"/>
                <a:ea typeface="Montserrat" pitchFamily="34" charset="-122"/>
                <a:cs typeface="Montserrat" pitchFamily="34" charset="-120"/>
              </a:rPr>
              <a:t>PART TWO</a:t>
            </a:r>
            <a:endParaRPr lang="en-US" sz="1200" dirty="0"/>
          </a:p>
        </p:txBody>
      </p:sp>
      <p:sp>
        <p:nvSpPr>
          <p:cNvPr id="4" name="Text 2"/>
          <p:cNvSpPr/>
          <p:nvPr/>
        </p:nvSpPr>
        <p:spPr>
          <a:xfrm>
            <a:off x="457200" y="3520440"/>
            <a:ext cx="10972800" cy="914400"/>
          </a:xfrm>
          <a:prstGeom prst="rect">
            <a:avLst/>
          </a:prstGeom>
          <a:noFill/>
          <a:ln/>
        </p:spPr>
        <p:txBody>
          <a:bodyPr wrap="square" lIns="0" tIns="0" rIns="0" bIns="0" rtlCol="0" anchor="ctr"/>
          <a:lstStyle/>
          <a:p>
            <a:pPr marL="0" indent="0">
              <a:buNone/>
            </a:pPr>
            <a:r>
              <a:rPr lang="en-US" sz="4800" b="1" dirty="0">
                <a:solidFill>
                  <a:srgbClr val="FFFFFF"/>
                </a:solidFill>
                <a:latin typeface="Montserrat" pitchFamily="34" charset="0"/>
                <a:ea typeface="Montserrat" pitchFamily="34" charset="-122"/>
                <a:cs typeface="Montserrat" pitchFamily="34" charset="-120"/>
              </a:rPr>
              <a:t>What drove the minutes</a:t>
            </a:r>
            <a:endParaRPr lang="en-US" sz="4800" dirty="0"/>
          </a:p>
        </p:txBody>
      </p:sp>
      <p:sp>
        <p:nvSpPr>
          <p:cNvPr id="5" name="Text 3"/>
          <p:cNvSpPr/>
          <p:nvPr/>
        </p:nvSpPr>
        <p:spPr>
          <a:xfrm>
            <a:off x="457200" y="4434840"/>
            <a:ext cx="10972800" cy="548640"/>
          </a:xfrm>
          <a:prstGeom prst="rect">
            <a:avLst/>
          </a:prstGeom>
          <a:noFill/>
          <a:ln/>
        </p:spPr>
        <p:txBody>
          <a:bodyPr wrap="square" lIns="0" tIns="0" rIns="0" bIns="0" rtlCol="0" anchor="ctr"/>
          <a:lstStyle/>
          <a:p>
            <a:pPr marL="0" indent="0">
              <a:buNone/>
            </a:pPr>
            <a:r>
              <a:rPr lang="en-US" sz="1800" i="1" dirty="0">
                <a:solidFill>
                  <a:srgbClr val="9BA7BC"/>
                </a:solidFill>
                <a:latin typeface="Montserrat" pitchFamily="34" charset="0"/>
                <a:ea typeface="Montserrat" pitchFamily="34" charset="-122"/>
                <a:cs typeface="Montserrat" pitchFamily="34" charset="-120"/>
              </a:rPr>
              <a:t>Two cricket channels, two music channels — and not much else earned its place.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CONTENT MIX</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Sport and music carried four in every five minutes</a:t>
            </a:r>
            <a:endParaRPr lang="en-US" sz="2800" dirty="0"/>
          </a:p>
        </p:txBody>
      </p:sp>
      <p:graphicFrame>
        <p:nvGraphicFramePr>
          <p:cNvPr id="5" name="Chart 0"/>
          <p:cNvGraphicFramePr/>
          <p:nvPr/>
        </p:nvGraphicFramePr>
        <p:xfrm>
          <a:off x="274320" y="1645920"/>
          <a:ext cx="53035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943600" y="1645920"/>
            <a:ext cx="5486400" cy="1280160"/>
          </a:xfrm>
          <a:prstGeom prst="rect">
            <a:avLst/>
          </a:prstGeom>
          <a:noFill/>
          <a:ln/>
        </p:spPr>
        <p:txBody>
          <a:bodyPr wrap="square" lIns="0" tIns="0" rIns="0" bIns="0" rtlCol="0" anchor="ctr"/>
          <a:lstStyle/>
          <a:p>
            <a:pPr marL="0" indent="0">
              <a:buNone/>
            </a:pPr>
            <a:r>
              <a:rPr lang="en-US" sz="9600" b="1" dirty="0">
                <a:solidFill>
                  <a:srgbClr val="F26B3A"/>
                </a:solidFill>
                <a:latin typeface="Montserrat" pitchFamily="34" charset="0"/>
                <a:ea typeface="Montserrat" pitchFamily="34" charset="-122"/>
                <a:cs typeface="Montserrat" pitchFamily="34" charset="-120"/>
              </a:rPr>
              <a:t>79%</a:t>
            </a:r>
            <a:endParaRPr lang="en-US" sz="9600" dirty="0"/>
          </a:p>
        </p:txBody>
      </p:sp>
      <p:sp>
        <p:nvSpPr>
          <p:cNvPr id="7" name="Text 4"/>
          <p:cNvSpPr/>
          <p:nvPr/>
        </p:nvSpPr>
        <p:spPr>
          <a:xfrm>
            <a:off x="5943600" y="2880360"/>
            <a:ext cx="5760720" cy="822960"/>
          </a:xfrm>
          <a:prstGeom prst="rect">
            <a:avLst/>
          </a:prstGeom>
          <a:noFill/>
          <a:ln/>
        </p:spPr>
        <p:txBody>
          <a:bodyPr wrap="square" lIns="0" tIns="0" rIns="0" bIns="0" rtlCol="0" anchor="ctr"/>
          <a:lstStyle/>
          <a:p>
            <a:pPr marL="0" indent="0">
              <a:buNone/>
            </a:pPr>
            <a:r>
              <a:rPr lang="en-US" sz="1700" b="1" dirty="0">
                <a:solidFill>
                  <a:srgbClr val="0F172A"/>
                </a:solidFill>
                <a:latin typeface="Montserrat" pitchFamily="34" charset="0"/>
                <a:ea typeface="Montserrat" pitchFamily="34" charset="-122"/>
                <a:cs typeface="Montserrat" pitchFamily="34" charset="-120"/>
              </a:rPr>
              <a:t>of all minutes came from just two genres — sport and music.</a:t>
            </a:r>
            <a:endParaRPr lang="en-US" sz="1700" dirty="0"/>
          </a:p>
        </p:txBody>
      </p:sp>
      <p:sp>
        <p:nvSpPr>
          <p:cNvPr id="8" name="Text 5"/>
          <p:cNvSpPr/>
          <p:nvPr/>
        </p:nvSpPr>
        <p:spPr>
          <a:xfrm>
            <a:off x="5943600" y="3749040"/>
            <a:ext cx="5760720" cy="1463040"/>
          </a:xfrm>
          <a:prstGeom prst="rect">
            <a:avLst/>
          </a:prstGeom>
          <a:noFill/>
          <a:ln/>
        </p:spPr>
        <p:txBody>
          <a:bodyPr wrap="square" lIns="0" tIns="0" rIns="0" bIns="0" rtlCol="0" anchor="ctr"/>
          <a:lstStyle/>
          <a:p>
            <a:pPr marL="0" indent="0">
              <a:buNone/>
            </a:pPr>
            <a:r>
              <a:rPr lang="en-US" sz="1300" dirty="0">
                <a:solidFill>
                  <a:srgbClr val="2B3444"/>
                </a:solidFill>
                <a:latin typeface="Montserrat" pitchFamily="34" charset="0"/>
                <a:ea typeface="Montserrat" pitchFamily="34" charset="-122"/>
                <a:cs typeface="Montserrat" pitchFamily="34" charset="-120"/>
              </a:rPr>
              <a:t>Sport alone took 54% of watch time. Music videos and music-led programming on Channel O and Trace TV added another 25%. Everything else — kids, news, general entertainment — shared the remaining fifth of the pie between them.</a:t>
            </a:r>
            <a:endParaRPr lang="en-US" sz="1300" dirty="0"/>
          </a:p>
        </p:txBody>
      </p:sp>
      <p:sp>
        <p:nvSpPr>
          <p:cNvPr id="9" name="Shape 6"/>
          <p:cNvSpPr/>
          <p:nvPr/>
        </p:nvSpPr>
        <p:spPr>
          <a:xfrm>
            <a:off x="5943600" y="5166360"/>
            <a:ext cx="5760720" cy="1051560"/>
          </a:xfrm>
          <a:prstGeom prst="rect">
            <a:avLst/>
          </a:prstGeom>
          <a:solidFill>
            <a:srgbClr val="F4F6F9"/>
          </a:solidFill>
          <a:ln w="6350">
            <a:solidFill>
              <a:srgbClr val="E2E6EE"/>
            </a:solidFill>
            <a:prstDash val="solid"/>
          </a:ln>
        </p:spPr>
        <p:txBody>
          <a:bodyPr/>
          <a:lstStyle/>
          <a:p>
            <a:endParaRPr lang="en-ZA"/>
          </a:p>
        </p:txBody>
      </p:sp>
      <p:sp>
        <p:nvSpPr>
          <p:cNvPr id="10" name="Shape 7"/>
          <p:cNvSpPr/>
          <p:nvPr/>
        </p:nvSpPr>
        <p:spPr>
          <a:xfrm>
            <a:off x="5943600" y="5166360"/>
            <a:ext cx="54864" cy="1051560"/>
          </a:xfrm>
          <a:prstGeom prst="rect">
            <a:avLst/>
          </a:prstGeom>
          <a:solidFill>
            <a:srgbClr val="F26B3A"/>
          </a:solidFill>
          <a:ln w="12700">
            <a:solidFill>
              <a:srgbClr val="F26B3A"/>
            </a:solidFill>
            <a:prstDash val="solid"/>
          </a:ln>
        </p:spPr>
        <p:txBody>
          <a:bodyPr/>
          <a:lstStyle/>
          <a:p>
            <a:endParaRPr lang="en-ZA"/>
          </a:p>
        </p:txBody>
      </p:sp>
      <p:sp>
        <p:nvSpPr>
          <p:cNvPr id="11" name="Text 8"/>
          <p:cNvSpPr/>
          <p:nvPr/>
        </p:nvSpPr>
        <p:spPr>
          <a:xfrm>
            <a:off x="6126480" y="5285232"/>
            <a:ext cx="5486400" cy="868680"/>
          </a:xfrm>
          <a:prstGeom prst="rect">
            <a:avLst/>
          </a:prstGeom>
          <a:noFill/>
          <a:ln/>
        </p:spPr>
        <p:txBody>
          <a:bodyPr wrap="square" lIns="0" tIns="0" rIns="0" bIns="0" rtlCol="0" anchor="ctr"/>
          <a:lstStyle/>
          <a:p>
            <a:pPr marL="0" indent="0">
              <a:buNone/>
            </a:pPr>
            <a:r>
              <a:rPr lang="en-US" sz="1300" b="1" i="1" dirty="0">
                <a:solidFill>
                  <a:srgbClr val="0F172A"/>
                </a:solidFill>
                <a:latin typeface="Montserrat" pitchFamily="34" charset="0"/>
                <a:ea typeface="Montserrat" pitchFamily="34" charset="-122"/>
                <a:cs typeface="Montserrat" pitchFamily="34" charset="-120"/>
              </a:rPr>
              <a:t>A narrow content engine is efficient when it is working. It becomes a liability the week it isn't.</a:t>
            </a:r>
            <a:endParaRPr lang="en-US" sz="1300" dirty="0"/>
          </a:p>
        </p:txBody>
      </p:sp>
      <p:sp>
        <p:nvSpPr>
          <p:cNvPr id="12" name="Shape 9"/>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13" name="Text 10"/>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14" name="Text 11"/>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2  //  What drove the minutes</a:t>
            </a:r>
            <a:endParaRPr lang="en-US" sz="900" dirty="0"/>
          </a:p>
        </p:txBody>
      </p:sp>
      <p:sp>
        <p:nvSpPr>
          <p:cNvPr id="15" name="Text 12"/>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CHANNEL PERFORMANCE</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The top five channels carried 78% of all watch time</a:t>
            </a:r>
            <a:endParaRPr lang="en-US" sz="2800" dirty="0"/>
          </a:p>
        </p:txBody>
      </p:sp>
      <p:graphicFrame>
        <p:nvGraphicFramePr>
          <p:cNvPr id="5" name="Chart 0"/>
          <p:cNvGraphicFramePr/>
          <p:nvPr/>
        </p:nvGraphicFramePr>
        <p:xfrm>
          <a:off x="274320" y="1554480"/>
          <a:ext cx="74980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955280" y="1554480"/>
            <a:ext cx="3840480" cy="1463040"/>
          </a:xfrm>
          <a:prstGeom prst="rect">
            <a:avLst/>
          </a:prstGeom>
          <a:solidFill>
            <a:srgbClr val="F4F6F9"/>
          </a:solidFill>
          <a:ln w="6350">
            <a:solidFill>
              <a:srgbClr val="E2E6EE"/>
            </a:solidFill>
            <a:prstDash val="solid"/>
          </a:ln>
        </p:spPr>
        <p:txBody>
          <a:bodyPr/>
          <a:lstStyle/>
          <a:p>
            <a:endParaRPr lang="en-ZA"/>
          </a:p>
        </p:txBody>
      </p:sp>
      <p:sp>
        <p:nvSpPr>
          <p:cNvPr id="7" name="Shape 4"/>
          <p:cNvSpPr/>
          <p:nvPr/>
        </p:nvSpPr>
        <p:spPr>
          <a:xfrm>
            <a:off x="7955280" y="1554480"/>
            <a:ext cx="54864" cy="1463040"/>
          </a:xfrm>
          <a:prstGeom prst="rect">
            <a:avLst/>
          </a:prstGeom>
          <a:solidFill>
            <a:srgbClr val="F26B3A"/>
          </a:solidFill>
          <a:ln w="12700">
            <a:solidFill>
              <a:srgbClr val="F26B3A"/>
            </a:solidFill>
            <a:prstDash val="solid"/>
          </a:ln>
        </p:spPr>
        <p:txBody>
          <a:bodyPr/>
          <a:lstStyle/>
          <a:p>
            <a:endParaRPr lang="en-ZA"/>
          </a:p>
        </p:txBody>
      </p:sp>
      <p:sp>
        <p:nvSpPr>
          <p:cNvPr id="8" name="Text 5"/>
          <p:cNvSpPr/>
          <p:nvPr/>
        </p:nvSpPr>
        <p:spPr>
          <a:xfrm>
            <a:off x="8138160" y="1691640"/>
            <a:ext cx="3611880" cy="365760"/>
          </a:xfrm>
          <a:prstGeom prst="rect">
            <a:avLst/>
          </a:prstGeom>
          <a:noFill/>
          <a:ln/>
        </p:spPr>
        <p:txBody>
          <a:bodyPr wrap="square" lIns="0" tIns="0" rIns="0" bIns="0" rtlCol="0" anchor="ctr"/>
          <a:lstStyle/>
          <a:p>
            <a:pPr marL="0" indent="0">
              <a:buNone/>
            </a:pPr>
            <a:r>
              <a:rPr lang="en-US" sz="1250" b="1" dirty="0">
                <a:solidFill>
                  <a:srgbClr val="0F172A"/>
                </a:solidFill>
                <a:latin typeface="Montserrat" pitchFamily="34" charset="0"/>
                <a:ea typeface="Montserrat" pitchFamily="34" charset="-122"/>
                <a:cs typeface="Montserrat" pitchFamily="34" charset="-120"/>
              </a:rPr>
              <a:t>The cricket effect.</a:t>
            </a:r>
            <a:endParaRPr lang="en-US" sz="1250" dirty="0"/>
          </a:p>
        </p:txBody>
      </p:sp>
      <p:sp>
        <p:nvSpPr>
          <p:cNvPr id="9" name="Text 6"/>
          <p:cNvSpPr/>
          <p:nvPr/>
        </p:nvSpPr>
        <p:spPr>
          <a:xfrm>
            <a:off x="8138160" y="2057400"/>
            <a:ext cx="3611880" cy="91440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Two sport channels covered 48% of all watch time in the window. Remove the cricket tournament and the mix shifts sharply.</a:t>
            </a:r>
            <a:endParaRPr lang="en-US" sz="1050" dirty="0"/>
          </a:p>
        </p:txBody>
      </p:sp>
      <p:sp>
        <p:nvSpPr>
          <p:cNvPr id="10" name="Shape 7"/>
          <p:cNvSpPr/>
          <p:nvPr/>
        </p:nvSpPr>
        <p:spPr>
          <a:xfrm>
            <a:off x="7955280" y="3182112"/>
            <a:ext cx="3840480" cy="1463040"/>
          </a:xfrm>
          <a:prstGeom prst="rect">
            <a:avLst/>
          </a:prstGeom>
          <a:solidFill>
            <a:srgbClr val="F4F6F9"/>
          </a:solidFill>
          <a:ln w="6350">
            <a:solidFill>
              <a:srgbClr val="E2E6EE"/>
            </a:solidFill>
            <a:prstDash val="solid"/>
          </a:ln>
        </p:spPr>
        <p:txBody>
          <a:bodyPr/>
          <a:lstStyle/>
          <a:p>
            <a:endParaRPr lang="en-ZA"/>
          </a:p>
        </p:txBody>
      </p:sp>
      <p:sp>
        <p:nvSpPr>
          <p:cNvPr id="11" name="Shape 8"/>
          <p:cNvSpPr/>
          <p:nvPr/>
        </p:nvSpPr>
        <p:spPr>
          <a:xfrm>
            <a:off x="7955280" y="3182112"/>
            <a:ext cx="54864" cy="1463040"/>
          </a:xfrm>
          <a:prstGeom prst="rect">
            <a:avLst/>
          </a:prstGeom>
          <a:solidFill>
            <a:srgbClr val="F26B3A"/>
          </a:solidFill>
          <a:ln w="12700">
            <a:solidFill>
              <a:srgbClr val="F26B3A"/>
            </a:solidFill>
            <a:prstDash val="solid"/>
          </a:ln>
        </p:spPr>
        <p:txBody>
          <a:bodyPr/>
          <a:lstStyle/>
          <a:p>
            <a:endParaRPr lang="en-ZA"/>
          </a:p>
        </p:txBody>
      </p:sp>
      <p:sp>
        <p:nvSpPr>
          <p:cNvPr id="12" name="Text 9"/>
          <p:cNvSpPr/>
          <p:nvPr/>
        </p:nvSpPr>
        <p:spPr>
          <a:xfrm>
            <a:off x="8138160" y="3319272"/>
            <a:ext cx="3611880" cy="365760"/>
          </a:xfrm>
          <a:prstGeom prst="rect">
            <a:avLst/>
          </a:prstGeom>
          <a:noFill/>
          <a:ln/>
        </p:spPr>
        <p:txBody>
          <a:bodyPr wrap="square" lIns="0" tIns="0" rIns="0" bIns="0" rtlCol="0" anchor="ctr"/>
          <a:lstStyle/>
          <a:p>
            <a:pPr marL="0" indent="0">
              <a:buNone/>
            </a:pPr>
            <a:r>
              <a:rPr lang="en-US" sz="1250" b="1" dirty="0">
                <a:solidFill>
                  <a:srgbClr val="0F172A"/>
                </a:solidFill>
                <a:latin typeface="Montserrat" pitchFamily="34" charset="0"/>
                <a:ea typeface="Montserrat" pitchFamily="34" charset="-122"/>
                <a:cs typeface="Montserrat" pitchFamily="34" charset="-120"/>
              </a:rPr>
              <a:t>Music punched above its weight.</a:t>
            </a:r>
            <a:endParaRPr lang="en-US" sz="1250" dirty="0"/>
          </a:p>
        </p:txBody>
      </p:sp>
      <p:sp>
        <p:nvSpPr>
          <p:cNvPr id="13" name="Text 10"/>
          <p:cNvSpPr/>
          <p:nvPr/>
        </p:nvSpPr>
        <p:spPr>
          <a:xfrm>
            <a:off x="8138160" y="3685032"/>
            <a:ext cx="3611880" cy="91440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Channel O and Trace TV served smaller audiences than Sport did — but returned strong minutes per session on the back of loyal viewership.</a:t>
            </a:r>
            <a:endParaRPr lang="en-US" sz="1050" dirty="0"/>
          </a:p>
        </p:txBody>
      </p:sp>
      <p:sp>
        <p:nvSpPr>
          <p:cNvPr id="14" name="Shape 11"/>
          <p:cNvSpPr/>
          <p:nvPr/>
        </p:nvSpPr>
        <p:spPr>
          <a:xfrm>
            <a:off x="7955280" y="4809744"/>
            <a:ext cx="3840480" cy="1463040"/>
          </a:xfrm>
          <a:prstGeom prst="rect">
            <a:avLst/>
          </a:prstGeom>
          <a:solidFill>
            <a:srgbClr val="F4F6F9"/>
          </a:solidFill>
          <a:ln w="6350">
            <a:solidFill>
              <a:srgbClr val="E2E6EE"/>
            </a:solidFill>
            <a:prstDash val="solid"/>
          </a:ln>
        </p:spPr>
        <p:txBody>
          <a:bodyPr/>
          <a:lstStyle/>
          <a:p>
            <a:endParaRPr lang="en-ZA"/>
          </a:p>
        </p:txBody>
      </p:sp>
      <p:sp>
        <p:nvSpPr>
          <p:cNvPr id="15" name="Shape 12"/>
          <p:cNvSpPr/>
          <p:nvPr/>
        </p:nvSpPr>
        <p:spPr>
          <a:xfrm>
            <a:off x="7955280" y="4809744"/>
            <a:ext cx="54864" cy="1463040"/>
          </a:xfrm>
          <a:prstGeom prst="rect">
            <a:avLst/>
          </a:prstGeom>
          <a:solidFill>
            <a:srgbClr val="F26B3A"/>
          </a:solidFill>
          <a:ln w="12700">
            <a:solidFill>
              <a:srgbClr val="F26B3A"/>
            </a:solidFill>
            <a:prstDash val="solid"/>
          </a:ln>
        </p:spPr>
        <p:txBody>
          <a:bodyPr/>
          <a:lstStyle/>
          <a:p>
            <a:endParaRPr lang="en-ZA"/>
          </a:p>
        </p:txBody>
      </p:sp>
      <p:sp>
        <p:nvSpPr>
          <p:cNvPr id="16" name="Text 13"/>
          <p:cNvSpPr/>
          <p:nvPr/>
        </p:nvSpPr>
        <p:spPr>
          <a:xfrm>
            <a:off x="8138160" y="4946904"/>
            <a:ext cx="3611880" cy="365760"/>
          </a:xfrm>
          <a:prstGeom prst="rect">
            <a:avLst/>
          </a:prstGeom>
          <a:noFill/>
          <a:ln/>
        </p:spPr>
        <p:txBody>
          <a:bodyPr wrap="square" lIns="0" tIns="0" rIns="0" bIns="0" rtlCol="0" anchor="ctr"/>
          <a:lstStyle/>
          <a:p>
            <a:pPr marL="0" indent="0">
              <a:buNone/>
            </a:pPr>
            <a:r>
              <a:rPr lang="en-US" sz="1250" b="1" dirty="0">
                <a:solidFill>
                  <a:srgbClr val="0F172A"/>
                </a:solidFill>
                <a:latin typeface="Montserrat" pitchFamily="34" charset="0"/>
                <a:ea typeface="Montserrat" pitchFamily="34" charset="-122"/>
                <a:cs typeface="Montserrat" pitchFamily="34" charset="-120"/>
              </a:rPr>
              <a:t>The tail was not earning its slot.</a:t>
            </a:r>
            <a:endParaRPr lang="en-US" sz="1250" dirty="0"/>
          </a:p>
        </p:txBody>
      </p:sp>
      <p:sp>
        <p:nvSpPr>
          <p:cNvPr id="17" name="Text 14"/>
          <p:cNvSpPr/>
          <p:nvPr/>
        </p:nvSpPr>
        <p:spPr>
          <a:xfrm>
            <a:off x="8138160" y="5312664"/>
            <a:ext cx="3611880" cy="91440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Six channels each delivered under 1% of minutes. That is a carriage question the programming team should close out.</a:t>
            </a:r>
            <a:endParaRPr lang="en-US" sz="1050" dirty="0"/>
          </a:p>
        </p:txBody>
      </p:sp>
      <p:sp>
        <p:nvSpPr>
          <p:cNvPr id="18" name="Shape 15"/>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19" name="Text 16"/>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20" name="Text 17"/>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2  //  What drove the minutes</a:t>
            </a:r>
            <a:endParaRPr lang="en-US" sz="900" dirty="0"/>
          </a:p>
        </p:txBody>
      </p:sp>
      <p:sp>
        <p:nvSpPr>
          <p:cNvPr id="21" name="Text 18"/>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CONSUMPTION DRIVERS</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Four factors explained most of what we saw</a:t>
            </a:r>
            <a:endParaRPr lang="en-US" sz="2800" dirty="0"/>
          </a:p>
        </p:txBody>
      </p:sp>
      <p:sp>
        <p:nvSpPr>
          <p:cNvPr id="5" name="Shape 3"/>
          <p:cNvSpPr/>
          <p:nvPr/>
        </p:nvSpPr>
        <p:spPr>
          <a:xfrm>
            <a:off x="457200" y="1645920"/>
            <a:ext cx="2743200" cy="4389120"/>
          </a:xfrm>
          <a:prstGeom prst="rect">
            <a:avLst/>
          </a:prstGeom>
          <a:solidFill>
            <a:srgbClr val="FFFFFF"/>
          </a:solidFill>
          <a:ln w="9525">
            <a:solidFill>
              <a:srgbClr val="E2E6EE"/>
            </a:solidFill>
            <a:prstDash val="solid"/>
          </a:ln>
        </p:spPr>
        <p:txBody>
          <a:bodyPr/>
          <a:lstStyle/>
          <a:p>
            <a:endParaRPr lang="en-ZA"/>
          </a:p>
        </p:txBody>
      </p:sp>
      <p:sp>
        <p:nvSpPr>
          <p:cNvPr id="6" name="Shape 4"/>
          <p:cNvSpPr/>
          <p:nvPr/>
        </p:nvSpPr>
        <p:spPr>
          <a:xfrm>
            <a:off x="457200" y="1645920"/>
            <a:ext cx="2743200" cy="73152"/>
          </a:xfrm>
          <a:prstGeom prst="rect">
            <a:avLst/>
          </a:prstGeom>
          <a:solidFill>
            <a:srgbClr val="F26B3A"/>
          </a:solidFill>
          <a:ln w="12700">
            <a:solidFill>
              <a:srgbClr val="F26B3A"/>
            </a:solidFill>
            <a:prstDash val="solid"/>
          </a:ln>
        </p:spPr>
        <p:txBody>
          <a:bodyPr/>
          <a:lstStyle/>
          <a:p>
            <a:endParaRPr lang="en-ZA"/>
          </a:p>
        </p:txBody>
      </p:sp>
      <p:sp>
        <p:nvSpPr>
          <p:cNvPr id="7" name="Text 5"/>
          <p:cNvSpPr/>
          <p:nvPr/>
        </p:nvSpPr>
        <p:spPr>
          <a:xfrm>
            <a:off x="640080" y="1874520"/>
            <a:ext cx="1828800" cy="548640"/>
          </a:xfrm>
          <a:prstGeom prst="rect">
            <a:avLst/>
          </a:prstGeom>
          <a:noFill/>
          <a:ln/>
        </p:spPr>
        <p:txBody>
          <a:bodyPr wrap="square" lIns="0" tIns="0" rIns="0" bIns="0" rtlCol="0" anchor="ctr"/>
          <a:lstStyle/>
          <a:p>
            <a:pPr marL="0" indent="0">
              <a:buNone/>
            </a:pPr>
            <a:r>
              <a:rPr lang="en-US" sz="2800" b="1" dirty="0">
                <a:solidFill>
                  <a:srgbClr val="F26B3A"/>
                </a:solidFill>
                <a:latin typeface="Montserrat" pitchFamily="34" charset="0"/>
                <a:ea typeface="Montserrat" pitchFamily="34" charset="-122"/>
                <a:cs typeface="Montserrat" pitchFamily="34" charset="-120"/>
              </a:rPr>
              <a:t>01</a:t>
            </a:r>
            <a:endParaRPr lang="en-US" sz="2800" dirty="0"/>
          </a:p>
        </p:txBody>
      </p:sp>
      <p:sp>
        <p:nvSpPr>
          <p:cNvPr id="8" name="Text 6"/>
          <p:cNvSpPr/>
          <p:nvPr/>
        </p:nvSpPr>
        <p:spPr>
          <a:xfrm>
            <a:off x="640080" y="2560320"/>
            <a:ext cx="2377440" cy="822960"/>
          </a:xfrm>
          <a:prstGeom prst="rect">
            <a:avLst/>
          </a:prstGeom>
          <a:noFill/>
          <a:ln/>
        </p:spPr>
        <p:txBody>
          <a:bodyPr wrap="square" lIns="0" tIns="0" rIns="0" bIns="0" rtlCol="0" anchor="ctr"/>
          <a:lstStyle/>
          <a:p>
            <a:pPr marL="0" indent="0">
              <a:buNone/>
            </a:pPr>
            <a:r>
              <a:rPr lang="en-US" sz="1400" b="1" dirty="0">
                <a:solidFill>
                  <a:srgbClr val="0F172A"/>
                </a:solidFill>
                <a:latin typeface="Montserrat" pitchFamily="34" charset="0"/>
                <a:ea typeface="Montserrat" pitchFamily="34" charset="-122"/>
                <a:cs typeface="Montserrat" pitchFamily="34" charset="-120"/>
              </a:rPr>
              <a:t>Live sport — especially cricket</a:t>
            </a:r>
            <a:endParaRPr lang="en-US" sz="1400" dirty="0"/>
          </a:p>
        </p:txBody>
      </p:sp>
      <p:sp>
        <p:nvSpPr>
          <p:cNvPr id="9" name="Text 7"/>
          <p:cNvSpPr/>
          <p:nvPr/>
        </p:nvSpPr>
        <p:spPr>
          <a:xfrm>
            <a:off x="640080" y="3429000"/>
            <a:ext cx="2377440" cy="2468880"/>
          </a:xfrm>
          <a:prstGeom prst="rect">
            <a:avLst/>
          </a:prstGeom>
          <a:noFill/>
          <a:ln/>
        </p:spPr>
        <p:txBody>
          <a:bodyPr wrap="square" lIns="0" tIns="0" rIns="0" bIns="0" rtlCol="0" anchor="ctr"/>
          <a:lstStyle/>
          <a:p>
            <a:pPr marL="0" indent="0">
              <a:buNone/>
            </a:pPr>
            <a:r>
              <a:rPr lang="en-US" sz="1100" dirty="0">
                <a:solidFill>
                  <a:srgbClr val="2B3444"/>
                </a:solidFill>
                <a:latin typeface="Montserrat" pitchFamily="34" charset="0"/>
                <a:ea typeface="Montserrat" pitchFamily="34" charset="-122"/>
                <a:cs typeface="Montserrat" pitchFamily="34" charset="-120"/>
              </a:rPr>
              <a:t>When a tournament was on, consumption spiked in the morning and held through the afternoon. No other content type moved the numbers like live sport did.</a:t>
            </a:r>
            <a:endParaRPr lang="en-US" sz="1100" dirty="0"/>
          </a:p>
        </p:txBody>
      </p:sp>
      <p:sp>
        <p:nvSpPr>
          <p:cNvPr id="10" name="Shape 8"/>
          <p:cNvSpPr/>
          <p:nvPr/>
        </p:nvSpPr>
        <p:spPr>
          <a:xfrm>
            <a:off x="3337560" y="1645920"/>
            <a:ext cx="2743200" cy="4389120"/>
          </a:xfrm>
          <a:prstGeom prst="rect">
            <a:avLst/>
          </a:prstGeom>
          <a:solidFill>
            <a:srgbClr val="FFFFFF"/>
          </a:solidFill>
          <a:ln w="9525">
            <a:solidFill>
              <a:srgbClr val="E2E6EE"/>
            </a:solidFill>
            <a:prstDash val="solid"/>
          </a:ln>
        </p:spPr>
        <p:txBody>
          <a:bodyPr/>
          <a:lstStyle/>
          <a:p>
            <a:endParaRPr lang="en-ZA"/>
          </a:p>
        </p:txBody>
      </p:sp>
      <p:sp>
        <p:nvSpPr>
          <p:cNvPr id="11" name="Shape 9"/>
          <p:cNvSpPr/>
          <p:nvPr/>
        </p:nvSpPr>
        <p:spPr>
          <a:xfrm>
            <a:off x="3337560" y="1645920"/>
            <a:ext cx="2743200" cy="73152"/>
          </a:xfrm>
          <a:prstGeom prst="rect">
            <a:avLst/>
          </a:prstGeom>
          <a:solidFill>
            <a:srgbClr val="F26B3A"/>
          </a:solidFill>
          <a:ln w="12700">
            <a:solidFill>
              <a:srgbClr val="F26B3A"/>
            </a:solidFill>
            <a:prstDash val="solid"/>
          </a:ln>
        </p:spPr>
        <p:txBody>
          <a:bodyPr/>
          <a:lstStyle/>
          <a:p>
            <a:endParaRPr lang="en-ZA"/>
          </a:p>
        </p:txBody>
      </p:sp>
      <p:sp>
        <p:nvSpPr>
          <p:cNvPr id="12" name="Text 10"/>
          <p:cNvSpPr/>
          <p:nvPr/>
        </p:nvSpPr>
        <p:spPr>
          <a:xfrm>
            <a:off x="3520440" y="1874520"/>
            <a:ext cx="1828800" cy="548640"/>
          </a:xfrm>
          <a:prstGeom prst="rect">
            <a:avLst/>
          </a:prstGeom>
          <a:noFill/>
          <a:ln/>
        </p:spPr>
        <p:txBody>
          <a:bodyPr wrap="square" lIns="0" tIns="0" rIns="0" bIns="0" rtlCol="0" anchor="ctr"/>
          <a:lstStyle/>
          <a:p>
            <a:pPr marL="0" indent="0">
              <a:buNone/>
            </a:pPr>
            <a:r>
              <a:rPr lang="en-US" sz="2800" b="1" dirty="0">
                <a:solidFill>
                  <a:srgbClr val="F26B3A"/>
                </a:solidFill>
                <a:latin typeface="Montserrat" pitchFamily="34" charset="0"/>
                <a:ea typeface="Montserrat" pitchFamily="34" charset="-122"/>
                <a:cs typeface="Montserrat" pitchFamily="34" charset="-120"/>
              </a:rPr>
              <a:t>02</a:t>
            </a:r>
            <a:endParaRPr lang="en-US" sz="2800" dirty="0"/>
          </a:p>
        </p:txBody>
      </p:sp>
      <p:sp>
        <p:nvSpPr>
          <p:cNvPr id="13" name="Text 11"/>
          <p:cNvSpPr/>
          <p:nvPr/>
        </p:nvSpPr>
        <p:spPr>
          <a:xfrm>
            <a:off x="3520440" y="2560320"/>
            <a:ext cx="2377440" cy="822960"/>
          </a:xfrm>
          <a:prstGeom prst="rect">
            <a:avLst/>
          </a:prstGeom>
          <a:noFill/>
          <a:ln/>
        </p:spPr>
        <p:txBody>
          <a:bodyPr wrap="square" lIns="0" tIns="0" rIns="0" bIns="0" rtlCol="0" anchor="ctr"/>
          <a:lstStyle/>
          <a:p>
            <a:pPr marL="0" indent="0">
              <a:buNone/>
            </a:pPr>
            <a:r>
              <a:rPr lang="en-US" sz="1400" b="1" dirty="0">
                <a:solidFill>
                  <a:srgbClr val="0F172A"/>
                </a:solidFill>
                <a:latin typeface="Montserrat" pitchFamily="34" charset="0"/>
                <a:ea typeface="Montserrat" pitchFamily="34" charset="-122"/>
                <a:cs typeface="Montserrat" pitchFamily="34" charset="-120"/>
              </a:rPr>
              <a:t>Time of day</a:t>
            </a:r>
            <a:endParaRPr lang="en-US" sz="1400" dirty="0"/>
          </a:p>
        </p:txBody>
      </p:sp>
      <p:sp>
        <p:nvSpPr>
          <p:cNvPr id="14" name="Text 12"/>
          <p:cNvSpPr/>
          <p:nvPr/>
        </p:nvSpPr>
        <p:spPr>
          <a:xfrm>
            <a:off x="3520440" y="3429000"/>
            <a:ext cx="2377440" cy="2468880"/>
          </a:xfrm>
          <a:prstGeom prst="rect">
            <a:avLst/>
          </a:prstGeom>
          <a:noFill/>
          <a:ln/>
        </p:spPr>
        <p:txBody>
          <a:bodyPr wrap="square" lIns="0" tIns="0" rIns="0" bIns="0" rtlCol="0" anchor="ctr"/>
          <a:lstStyle/>
          <a:p>
            <a:pPr marL="0" indent="0">
              <a:buNone/>
            </a:pPr>
            <a:r>
              <a:rPr lang="en-US" sz="1100" dirty="0">
                <a:solidFill>
                  <a:srgbClr val="2B3444"/>
                </a:solidFill>
                <a:latin typeface="Montserrat" pitchFamily="34" charset="0"/>
                <a:ea typeface="Montserrat" pitchFamily="34" charset="-122"/>
                <a:cs typeface="Montserrat" pitchFamily="34" charset="-120"/>
              </a:rPr>
              <a:t>Three in four minutes arrived between 09:00 and 18:00. An evening peak existed but never overtook the afternoon — unusual for a TV platform, and worth unpacking.</a:t>
            </a:r>
            <a:endParaRPr lang="en-US" sz="1100" dirty="0"/>
          </a:p>
        </p:txBody>
      </p:sp>
      <p:sp>
        <p:nvSpPr>
          <p:cNvPr id="15" name="Shape 13"/>
          <p:cNvSpPr/>
          <p:nvPr/>
        </p:nvSpPr>
        <p:spPr>
          <a:xfrm>
            <a:off x="6217920" y="1645920"/>
            <a:ext cx="2743200" cy="4389120"/>
          </a:xfrm>
          <a:prstGeom prst="rect">
            <a:avLst/>
          </a:prstGeom>
          <a:solidFill>
            <a:srgbClr val="FFFFFF"/>
          </a:solidFill>
          <a:ln w="9525">
            <a:solidFill>
              <a:srgbClr val="E2E6EE"/>
            </a:solidFill>
            <a:prstDash val="solid"/>
          </a:ln>
        </p:spPr>
        <p:txBody>
          <a:bodyPr/>
          <a:lstStyle/>
          <a:p>
            <a:endParaRPr lang="en-ZA"/>
          </a:p>
        </p:txBody>
      </p:sp>
      <p:sp>
        <p:nvSpPr>
          <p:cNvPr id="16" name="Shape 14"/>
          <p:cNvSpPr/>
          <p:nvPr/>
        </p:nvSpPr>
        <p:spPr>
          <a:xfrm>
            <a:off x="6217920" y="1645920"/>
            <a:ext cx="2743200" cy="73152"/>
          </a:xfrm>
          <a:prstGeom prst="rect">
            <a:avLst/>
          </a:prstGeom>
          <a:solidFill>
            <a:srgbClr val="F26B3A"/>
          </a:solidFill>
          <a:ln w="12700">
            <a:solidFill>
              <a:srgbClr val="F26B3A"/>
            </a:solidFill>
            <a:prstDash val="solid"/>
          </a:ln>
        </p:spPr>
        <p:txBody>
          <a:bodyPr/>
          <a:lstStyle/>
          <a:p>
            <a:endParaRPr lang="en-ZA"/>
          </a:p>
        </p:txBody>
      </p:sp>
      <p:sp>
        <p:nvSpPr>
          <p:cNvPr id="17" name="Text 15"/>
          <p:cNvSpPr/>
          <p:nvPr/>
        </p:nvSpPr>
        <p:spPr>
          <a:xfrm>
            <a:off x="6400800" y="1874520"/>
            <a:ext cx="1828800" cy="548640"/>
          </a:xfrm>
          <a:prstGeom prst="rect">
            <a:avLst/>
          </a:prstGeom>
          <a:noFill/>
          <a:ln/>
        </p:spPr>
        <p:txBody>
          <a:bodyPr wrap="square" lIns="0" tIns="0" rIns="0" bIns="0" rtlCol="0" anchor="ctr"/>
          <a:lstStyle/>
          <a:p>
            <a:pPr marL="0" indent="0">
              <a:buNone/>
            </a:pPr>
            <a:r>
              <a:rPr lang="en-US" sz="2800" b="1" dirty="0">
                <a:solidFill>
                  <a:srgbClr val="F26B3A"/>
                </a:solidFill>
                <a:latin typeface="Montserrat" pitchFamily="34" charset="0"/>
                <a:ea typeface="Montserrat" pitchFamily="34" charset="-122"/>
                <a:cs typeface="Montserrat" pitchFamily="34" charset="-120"/>
              </a:rPr>
              <a:t>03</a:t>
            </a:r>
            <a:endParaRPr lang="en-US" sz="2800" dirty="0"/>
          </a:p>
        </p:txBody>
      </p:sp>
      <p:sp>
        <p:nvSpPr>
          <p:cNvPr id="18" name="Text 16"/>
          <p:cNvSpPr/>
          <p:nvPr/>
        </p:nvSpPr>
        <p:spPr>
          <a:xfrm>
            <a:off x="6400800" y="2560320"/>
            <a:ext cx="2377440" cy="822960"/>
          </a:xfrm>
          <a:prstGeom prst="rect">
            <a:avLst/>
          </a:prstGeom>
          <a:noFill/>
          <a:ln/>
        </p:spPr>
        <p:txBody>
          <a:bodyPr wrap="square" lIns="0" tIns="0" rIns="0" bIns="0" rtlCol="0" anchor="ctr"/>
          <a:lstStyle/>
          <a:p>
            <a:pPr marL="0" indent="0">
              <a:buNone/>
            </a:pPr>
            <a:r>
              <a:rPr lang="en-US" sz="1400" b="1" dirty="0">
                <a:solidFill>
                  <a:srgbClr val="0F172A"/>
                </a:solidFill>
                <a:latin typeface="Montserrat" pitchFamily="34" charset="0"/>
                <a:ea typeface="Montserrat" pitchFamily="34" charset="-122"/>
                <a:cs typeface="Montserrat" pitchFamily="34" charset="-120"/>
              </a:rPr>
              <a:t>Demographic fit with genre</a:t>
            </a:r>
            <a:endParaRPr lang="en-US" sz="1400" dirty="0"/>
          </a:p>
        </p:txBody>
      </p:sp>
      <p:sp>
        <p:nvSpPr>
          <p:cNvPr id="19" name="Text 17"/>
          <p:cNvSpPr/>
          <p:nvPr/>
        </p:nvSpPr>
        <p:spPr>
          <a:xfrm>
            <a:off x="6400800" y="3429000"/>
            <a:ext cx="2377440" cy="2468880"/>
          </a:xfrm>
          <a:prstGeom prst="rect">
            <a:avLst/>
          </a:prstGeom>
          <a:noFill/>
          <a:ln/>
        </p:spPr>
        <p:txBody>
          <a:bodyPr wrap="square" lIns="0" tIns="0" rIns="0" bIns="0" rtlCol="0" anchor="ctr"/>
          <a:lstStyle/>
          <a:p>
            <a:pPr marL="0" indent="0">
              <a:buNone/>
            </a:pPr>
            <a:r>
              <a:rPr lang="en-US" sz="1100" dirty="0">
                <a:solidFill>
                  <a:srgbClr val="2B3444"/>
                </a:solidFill>
                <a:latin typeface="Montserrat" pitchFamily="34" charset="0"/>
                <a:ea typeface="Montserrat" pitchFamily="34" charset="-122"/>
                <a:cs typeface="Montserrat" pitchFamily="34" charset="-120"/>
              </a:rPr>
              <a:t>Teens went straight to Trace TV and Channel O. Seniors concentrated on live sport and news. The platform rewarded whoever found their channel fast.</a:t>
            </a:r>
            <a:endParaRPr lang="en-US" sz="1100" dirty="0"/>
          </a:p>
        </p:txBody>
      </p:sp>
      <p:sp>
        <p:nvSpPr>
          <p:cNvPr id="20" name="Shape 18"/>
          <p:cNvSpPr/>
          <p:nvPr/>
        </p:nvSpPr>
        <p:spPr>
          <a:xfrm>
            <a:off x="9098280" y="1645920"/>
            <a:ext cx="2743200" cy="4389120"/>
          </a:xfrm>
          <a:prstGeom prst="rect">
            <a:avLst/>
          </a:prstGeom>
          <a:solidFill>
            <a:srgbClr val="FFFFFF"/>
          </a:solidFill>
          <a:ln w="9525">
            <a:solidFill>
              <a:srgbClr val="E2E6EE"/>
            </a:solidFill>
            <a:prstDash val="solid"/>
          </a:ln>
        </p:spPr>
        <p:txBody>
          <a:bodyPr/>
          <a:lstStyle/>
          <a:p>
            <a:endParaRPr lang="en-ZA"/>
          </a:p>
        </p:txBody>
      </p:sp>
      <p:sp>
        <p:nvSpPr>
          <p:cNvPr id="21" name="Shape 19"/>
          <p:cNvSpPr/>
          <p:nvPr/>
        </p:nvSpPr>
        <p:spPr>
          <a:xfrm>
            <a:off x="9098280" y="1645920"/>
            <a:ext cx="2743200" cy="73152"/>
          </a:xfrm>
          <a:prstGeom prst="rect">
            <a:avLst/>
          </a:prstGeom>
          <a:solidFill>
            <a:srgbClr val="F26B3A"/>
          </a:solidFill>
          <a:ln w="12700">
            <a:solidFill>
              <a:srgbClr val="F26B3A"/>
            </a:solidFill>
            <a:prstDash val="solid"/>
          </a:ln>
        </p:spPr>
        <p:txBody>
          <a:bodyPr/>
          <a:lstStyle/>
          <a:p>
            <a:endParaRPr lang="en-ZA"/>
          </a:p>
        </p:txBody>
      </p:sp>
      <p:sp>
        <p:nvSpPr>
          <p:cNvPr id="22" name="Text 20"/>
          <p:cNvSpPr/>
          <p:nvPr/>
        </p:nvSpPr>
        <p:spPr>
          <a:xfrm>
            <a:off x="9281160" y="1874520"/>
            <a:ext cx="1828800" cy="548640"/>
          </a:xfrm>
          <a:prstGeom prst="rect">
            <a:avLst/>
          </a:prstGeom>
          <a:noFill/>
          <a:ln/>
        </p:spPr>
        <p:txBody>
          <a:bodyPr wrap="square" lIns="0" tIns="0" rIns="0" bIns="0" rtlCol="0" anchor="ctr"/>
          <a:lstStyle/>
          <a:p>
            <a:pPr marL="0" indent="0">
              <a:buNone/>
            </a:pPr>
            <a:r>
              <a:rPr lang="en-US" sz="2800" b="1" dirty="0">
                <a:solidFill>
                  <a:srgbClr val="F26B3A"/>
                </a:solidFill>
                <a:latin typeface="Montserrat" pitchFamily="34" charset="0"/>
                <a:ea typeface="Montserrat" pitchFamily="34" charset="-122"/>
                <a:cs typeface="Montserrat" pitchFamily="34" charset="-120"/>
              </a:rPr>
              <a:t>04</a:t>
            </a:r>
            <a:endParaRPr lang="en-US" sz="2800" dirty="0"/>
          </a:p>
        </p:txBody>
      </p:sp>
      <p:sp>
        <p:nvSpPr>
          <p:cNvPr id="23" name="Text 21"/>
          <p:cNvSpPr/>
          <p:nvPr/>
        </p:nvSpPr>
        <p:spPr>
          <a:xfrm>
            <a:off x="9281160" y="2560320"/>
            <a:ext cx="2377440" cy="822960"/>
          </a:xfrm>
          <a:prstGeom prst="rect">
            <a:avLst/>
          </a:prstGeom>
          <a:noFill/>
          <a:ln/>
        </p:spPr>
        <p:txBody>
          <a:bodyPr wrap="square" lIns="0" tIns="0" rIns="0" bIns="0" rtlCol="0" anchor="ctr"/>
          <a:lstStyle/>
          <a:p>
            <a:pPr marL="0" indent="0">
              <a:buNone/>
            </a:pPr>
            <a:r>
              <a:rPr lang="en-US" sz="1400" b="1" dirty="0">
                <a:solidFill>
                  <a:srgbClr val="0F172A"/>
                </a:solidFill>
                <a:latin typeface="Montserrat" pitchFamily="34" charset="0"/>
                <a:ea typeface="Montserrat" pitchFamily="34" charset="-122"/>
                <a:cs typeface="Montserrat" pitchFamily="34" charset="-120"/>
              </a:rPr>
              <a:t>Weekend anchoring</a:t>
            </a:r>
            <a:endParaRPr lang="en-US" sz="1400" dirty="0"/>
          </a:p>
        </p:txBody>
      </p:sp>
      <p:sp>
        <p:nvSpPr>
          <p:cNvPr id="24" name="Text 22"/>
          <p:cNvSpPr/>
          <p:nvPr/>
        </p:nvSpPr>
        <p:spPr>
          <a:xfrm>
            <a:off x="9281160" y="3429000"/>
            <a:ext cx="2377440" cy="2468880"/>
          </a:xfrm>
          <a:prstGeom prst="rect">
            <a:avLst/>
          </a:prstGeom>
          <a:noFill/>
          <a:ln/>
        </p:spPr>
        <p:txBody>
          <a:bodyPr wrap="square" lIns="0" tIns="0" rIns="0" bIns="0" rtlCol="0" anchor="ctr"/>
          <a:lstStyle/>
          <a:p>
            <a:pPr marL="0" indent="0">
              <a:buNone/>
            </a:pPr>
            <a:r>
              <a:rPr lang="en-US" sz="1100" dirty="0">
                <a:solidFill>
                  <a:srgbClr val="2B3444"/>
                </a:solidFill>
                <a:latin typeface="Montserrat" pitchFamily="34" charset="0"/>
                <a:ea typeface="Montserrat" pitchFamily="34" charset="-122"/>
                <a:cs typeface="Montserrat" pitchFamily="34" charset="-120"/>
              </a:rPr>
              <a:t>Saturday alone delivered 19% of weekly minutes. Viewers treated weekends as the appointment viewing window — weekdays needed a reason.</a:t>
            </a:r>
            <a:endParaRPr lang="en-US" sz="1100" dirty="0"/>
          </a:p>
        </p:txBody>
      </p:sp>
      <p:sp>
        <p:nvSpPr>
          <p:cNvPr id="25" name="Shape 23"/>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26" name="Text 24"/>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27" name="Text 25"/>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2  //  What drove the minutes</a:t>
            </a:r>
            <a:endParaRPr lang="en-US" sz="900" dirty="0"/>
          </a:p>
        </p:txBody>
      </p:sp>
      <p:sp>
        <p:nvSpPr>
          <p:cNvPr id="28" name="Text 26"/>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527"/>
        </a:solidFill>
        <a:effectLst/>
      </p:bgPr>
    </p:bg>
    <p:spTree>
      <p:nvGrpSpPr>
        <p:cNvPr id="1" name=""/>
        <p:cNvGrpSpPr/>
        <p:nvPr/>
      </p:nvGrpSpPr>
      <p:grpSpPr>
        <a:xfrm>
          <a:off x="0" y="0"/>
          <a:ext cx="0" cy="0"/>
          <a:chOff x="0" y="0"/>
          <a:chExt cx="0" cy="0"/>
        </a:xfrm>
      </p:grpSpPr>
      <p:sp>
        <p:nvSpPr>
          <p:cNvPr id="2" name="Shape 0"/>
          <p:cNvSpPr/>
          <p:nvPr/>
        </p:nvSpPr>
        <p:spPr>
          <a:xfrm>
            <a:off x="0" y="2926080"/>
            <a:ext cx="1097280" cy="10972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457200" y="3154680"/>
            <a:ext cx="9144000" cy="365760"/>
          </a:xfrm>
          <a:prstGeom prst="rect">
            <a:avLst/>
          </a:prstGeom>
          <a:noFill/>
          <a:ln/>
        </p:spPr>
        <p:txBody>
          <a:bodyPr wrap="square" rtlCol="0" anchor="ctr"/>
          <a:lstStyle/>
          <a:p>
            <a:pPr marL="0" indent="0">
              <a:buNone/>
            </a:pPr>
            <a:r>
              <a:rPr lang="en-US" sz="1200" b="1" kern="0" spc="600" dirty="0">
                <a:solidFill>
                  <a:srgbClr val="F26B3A"/>
                </a:solidFill>
                <a:latin typeface="Montserrat" pitchFamily="34" charset="0"/>
                <a:ea typeface="Montserrat" pitchFamily="34" charset="-122"/>
                <a:cs typeface="Montserrat" pitchFamily="34" charset="-120"/>
              </a:rPr>
              <a:t>PART THREE</a:t>
            </a:r>
            <a:endParaRPr lang="en-US" sz="1200" dirty="0"/>
          </a:p>
        </p:txBody>
      </p:sp>
      <p:sp>
        <p:nvSpPr>
          <p:cNvPr id="4" name="Text 2"/>
          <p:cNvSpPr/>
          <p:nvPr/>
        </p:nvSpPr>
        <p:spPr>
          <a:xfrm>
            <a:off x="457200" y="3520440"/>
            <a:ext cx="10972800" cy="914400"/>
          </a:xfrm>
          <a:prstGeom prst="rect">
            <a:avLst/>
          </a:prstGeom>
          <a:noFill/>
          <a:ln/>
        </p:spPr>
        <p:txBody>
          <a:bodyPr wrap="square" lIns="0" tIns="0" rIns="0" bIns="0" rtlCol="0" anchor="ctr"/>
          <a:lstStyle/>
          <a:p>
            <a:pPr marL="0" indent="0">
              <a:buNone/>
            </a:pPr>
            <a:r>
              <a:rPr lang="en-US" sz="4800" b="1" dirty="0">
                <a:solidFill>
                  <a:srgbClr val="FFFFFF"/>
                </a:solidFill>
                <a:latin typeface="Montserrat" pitchFamily="34" charset="0"/>
                <a:ea typeface="Montserrat" pitchFamily="34" charset="-122"/>
                <a:cs typeface="Montserrat" pitchFamily="34" charset="-120"/>
              </a:rPr>
              <a:t>What we recommend</a:t>
            </a:r>
            <a:endParaRPr lang="en-US" sz="4800" dirty="0"/>
          </a:p>
        </p:txBody>
      </p:sp>
      <p:sp>
        <p:nvSpPr>
          <p:cNvPr id="5" name="Text 3"/>
          <p:cNvSpPr/>
          <p:nvPr/>
        </p:nvSpPr>
        <p:spPr>
          <a:xfrm>
            <a:off x="457200" y="4434840"/>
            <a:ext cx="10972800" cy="548640"/>
          </a:xfrm>
          <a:prstGeom prst="rect">
            <a:avLst/>
          </a:prstGeom>
          <a:noFill/>
          <a:ln/>
        </p:spPr>
        <p:txBody>
          <a:bodyPr wrap="square" lIns="0" tIns="0" rIns="0" bIns="0" rtlCol="0" anchor="ctr"/>
          <a:lstStyle/>
          <a:p>
            <a:pPr marL="0" indent="0">
              <a:buNone/>
            </a:pPr>
            <a:r>
              <a:rPr lang="en-US" sz="1800" i="1" dirty="0">
                <a:solidFill>
                  <a:srgbClr val="9BA7BC"/>
                </a:solidFill>
                <a:latin typeface="Montserrat" pitchFamily="34" charset="0"/>
                <a:ea typeface="Montserrat" pitchFamily="34" charset="-122"/>
                <a:cs typeface="Montserrat" pitchFamily="34" charset="-120"/>
              </a:rPr>
              <a:t>A content fix for Mondays, and a five-part plan to grow the base.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CONTENT FOR QUIET DAYS</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What to run when viewers aren't tuning in on their own</a:t>
            </a:r>
            <a:endParaRPr lang="en-US" sz="2800" dirty="0"/>
          </a:p>
        </p:txBody>
      </p:sp>
      <p:sp>
        <p:nvSpPr>
          <p:cNvPr id="5" name="Shape 3"/>
          <p:cNvSpPr/>
          <p:nvPr/>
        </p:nvSpPr>
        <p:spPr>
          <a:xfrm>
            <a:off x="457200" y="1508760"/>
            <a:ext cx="11247120" cy="777240"/>
          </a:xfrm>
          <a:prstGeom prst="rect">
            <a:avLst/>
          </a:prstGeom>
          <a:solidFill>
            <a:srgbClr val="15233C"/>
          </a:solidFill>
          <a:ln w="12700">
            <a:solidFill>
              <a:srgbClr val="15233C"/>
            </a:solidFill>
            <a:prstDash val="solid"/>
          </a:ln>
        </p:spPr>
        <p:txBody>
          <a:bodyPr/>
          <a:lstStyle/>
          <a:p>
            <a:endParaRPr lang="en-ZA"/>
          </a:p>
        </p:txBody>
      </p:sp>
      <p:sp>
        <p:nvSpPr>
          <p:cNvPr id="6" name="Shape 4"/>
          <p:cNvSpPr/>
          <p:nvPr/>
        </p:nvSpPr>
        <p:spPr>
          <a:xfrm>
            <a:off x="457200" y="1508760"/>
            <a:ext cx="73152" cy="777240"/>
          </a:xfrm>
          <a:prstGeom prst="rect">
            <a:avLst/>
          </a:prstGeom>
          <a:solidFill>
            <a:srgbClr val="E8B839"/>
          </a:solidFill>
          <a:ln w="12700">
            <a:solidFill>
              <a:srgbClr val="E8B839"/>
            </a:solidFill>
            <a:prstDash val="solid"/>
          </a:ln>
        </p:spPr>
        <p:txBody>
          <a:bodyPr/>
          <a:lstStyle/>
          <a:p>
            <a:endParaRPr lang="en-ZA"/>
          </a:p>
        </p:txBody>
      </p:sp>
      <p:sp>
        <p:nvSpPr>
          <p:cNvPr id="7" name="Text 5"/>
          <p:cNvSpPr/>
          <p:nvPr/>
        </p:nvSpPr>
        <p:spPr>
          <a:xfrm>
            <a:off x="685800" y="1572768"/>
            <a:ext cx="4114800" cy="228600"/>
          </a:xfrm>
          <a:prstGeom prst="rect">
            <a:avLst/>
          </a:prstGeom>
          <a:noFill/>
          <a:ln/>
        </p:spPr>
        <p:txBody>
          <a:bodyPr wrap="square" rtlCol="0" anchor="ctr"/>
          <a:lstStyle/>
          <a:p>
            <a:pPr marL="0" indent="0">
              <a:buNone/>
            </a:pPr>
            <a:r>
              <a:rPr lang="en-US" sz="900" b="1" kern="0" spc="300" dirty="0">
                <a:solidFill>
                  <a:srgbClr val="E8B839"/>
                </a:solidFill>
                <a:latin typeface="Montserrat" pitchFamily="34" charset="0"/>
                <a:ea typeface="Montserrat" pitchFamily="34" charset="-122"/>
                <a:cs typeface="Montserrat" pitchFamily="34" charset="-120"/>
              </a:rPr>
              <a:t>THE PROBLEM IN ONE LINE</a:t>
            </a:r>
            <a:endParaRPr lang="en-US" sz="900" dirty="0"/>
          </a:p>
        </p:txBody>
      </p:sp>
      <p:sp>
        <p:nvSpPr>
          <p:cNvPr id="8" name="Text 6"/>
          <p:cNvSpPr/>
          <p:nvPr/>
        </p:nvSpPr>
        <p:spPr>
          <a:xfrm>
            <a:off x="685800" y="1810512"/>
            <a:ext cx="10972800" cy="457200"/>
          </a:xfrm>
          <a:prstGeom prst="rect">
            <a:avLst/>
          </a:prstGeom>
          <a:noFill/>
          <a:ln/>
        </p:spPr>
        <p:txBody>
          <a:bodyPr wrap="square" lIns="0" tIns="0" rIns="0" bIns="0" rtlCol="0" anchor="ctr"/>
          <a:lstStyle/>
          <a:p>
            <a:pPr marL="0" indent="0">
              <a:buNone/>
            </a:pPr>
            <a:r>
              <a:rPr lang="en-US" sz="1250" i="1" dirty="0">
                <a:solidFill>
                  <a:srgbClr val="FFFFFF"/>
                </a:solidFill>
                <a:latin typeface="Montserrat" pitchFamily="34" charset="0"/>
                <a:ea typeface="Montserrat" pitchFamily="34" charset="-122"/>
                <a:cs typeface="Montserrat" pitchFamily="34" charset="-120"/>
              </a:rPr>
              <a:t>Monday minutes sat 61% below Saturday. Early mornings (00:00–06:00) and Sunday evenings also under-indexed. Those are the slots to programme for.</a:t>
            </a:r>
            <a:endParaRPr lang="en-US" sz="1250" dirty="0"/>
          </a:p>
        </p:txBody>
      </p:sp>
      <p:sp>
        <p:nvSpPr>
          <p:cNvPr id="9" name="Shape 7"/>
          <p:cNvSpPr/>
          <p:nvPr/>
        </p:nvSpPr>
        <p:spPr>
          <a:xfrm>
            <a:off x="457200" y="2514600"/>
            <a:ext cx="2743200" cy="3794760"/>
          </a:xfrm>
          <a:prstGeom prst="rect">
            <a:avLst/>
          </a:prstGeom>
          <a:solidFill>
            <a:srgbClr val="F4F6F9"/>
          </a:solidFill>
          <a:ln w="6350">
            <a:solidFill>
              <a:srgbClr val="E2E6EE"/>
            </a:solidFill>
            <a:prstDash val="solid"/>
          </a:ln>
        </p:spPr>
        <p:txBody>
          <a:bodyPr/>
          <a:lstStyle/>
          <a:p>
            <a:endParaRPr lang="en-ZA"/>
          </a:p>
        </p:txBody>
      </p:sp>
      <p:sp>
        <p:nvSpPr>
          <p:cNvPr id="10" name="Shape 8"/>
          <p:cNvSpPr/>
          <p:nvPr/>
        </p:nvSpPr>
        <p:spPr>
          <a:xfrm>
            <a:off x="457200" y="2514600"/>
            <a:ext cx="73152" cy="3794760"/>
          </a:xfrm>
          <a:prstGeom prst="rect">
            <a:avLst/>
          </a:prstGeom>
          <a:solidFill>
            <a:srgbClr val="F26B3A"/>
          </a:solidFill>
          <a:ln w="12700">
            <a:solidFill>
              <a:srgbClr val="F26B3A"/>
            </a:solidFill>
            <a:prstDash val="solid"/>
          </a:ln>
        </p:spPr>
        <p:txBody>
          <a:bodyPr/>
          <a:lstStyle/>
          <a:p>
            <a:endParaRPr lang="en-ZA"/>
          </a:p>
        </p:txBody>
      </p:sp>
      <p:sp>
        <p:nvSpPr>
          <p:cNvPr id="11" name="Text 9"/>
          <p:cNvSpPr/>
          <p:nvPr/>
        </p:nvSpPr>
        <p:spPr>
          <a:xfrm>
            <a:off x="685800" y="2697480"/>
            <a:ext cx="242316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MONDAY</a:t>
            </a:r>
            <a:endParaRPr lang="en-US" sz="1000" dirty="0"/>
          </a:p>
        </p:txBody>
      </p:sp>
      <p:sp>
        <p:nvSpPr>
          <p:cNvPr id="12" name="Text 10"/>
          <p:cNvSpPr/>
          <p:nvPr/>
        </p:nvSpPr>
        <p:spPr>
          <a:xfrm>
            <a:off x="685800" y="3017520"/>
            <a:ext cx="2423160" cy="1097280"/>
          </a:xfrm>
          <a:prstGeom prst="rect">
            <a:avLst/>
          </a:prstGeom>
          <a:noFill/>
          <a:ln/>
        </p:spPr>
        <p:txBody>
          <a:bodyPr wrap="square" lIns="0" tIns="0" rIns="0" bIns="0" rtlCol="0" anchor="ctr"/>
          <a:lstStyle/>
          <a:p>
            <a:pPr marL="0" indent="0">
              <a:buNone/>
            </a:pPr>
            <a:r>
              <a:rPr lang="en-US" sz="1350" b="1" dirty="0">
                <a:solidFill>
                  <a:srgbClr val="0F172A"/>
                </a:solidFill>
                <a:latin typeface="Montserrat" pitchFamily="34" charset="0"/>
                <a:ea typeface="Montserrat" pitchFamily="34" charset="-122"/>
                <a:cs typeface="Montserrat" pitchFamily="34" charset="-120"/>
              </a:rPr>
              <a:t>Weekend sport re-runs &amp; magazine shows</a:t>
            </a:r>
            <a:endParaRPr lang="en-US" sz="1350" dirty="0"/>
          </a:p>
        </p:txBody>
      </p:sp>
      <p:sp>
        <p:nvSpPr>
          <p:cNvPr id="13" name="Text 11"/>
          <p:cNvSpPr/>
          <p:nvPr/>
        </p:nvSpPr>
        <p:spPr>
          <a:xfrm>
            <a:off x="685800" y="4178808"/>
            <a:ext cx="2331720" cy="201168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Monday viewers wanted what they missed. A 'Weekend in review' strand built from the Saturday sport rail costs nothing new to produce and maps directly onto demand we already saw on Saturday.</a:t>
            </a:r>
            <a:endParaRPr lang="en-US" sz="1050" dirty="0"/>
          </a:p>
        </p:txBody>
      </p:sp>
      <p:sp>
        <p:nvSpPr>
          <p:cNvPr id="14" name="Shape 12"/>
          <p:cNvSpPr/>
          <p:nvPr/>
        </p:nvSpPr>
        <p:spPr>
          <a:xfrm>
            <a:off x="3337560" y="2514600"/>
            <a:ext cx="2743200" cy="3794760"/>
          </a:xfrm>
          <a:prstGeom prst="rect">
            <a:avLst/>
          </a:prstGeom>
          <a:solidFill>
            <a:srgbClr val="F4F6F9"/>
          </a:solidFill>
          <a:ln w="6350">
            <a:solidFill>
              <a:srgbClr val="E2E6EE"/>
            </a:solidFill>
            <a:prstDash val="solid"/>
          </a:ln>
        </p:spPr>
        <p:txBody>
          <a:bodyPr/>
          <a:lstStyle/>
          <a:p>
            <a:endParaRPr lang="en-ZA"/>
          </a:p>
        </p:txBody>
      </p:sp>
      <p:sp>
        <p:nvSpPr>
          <p:cNvPr id="15" name="Shape 13"/>
          <p:cNvSpPr/>
          <p:nvPr/>
        </p:nvSpPr>
        <p:spPr>
          <a:xfrm>
            <a:off x="3337560" y="2514600"/>
            <a:ext cx="73152" cy="3794760"/>
          </a:xfrm>
          <a:prstGeom prst="rect">
            <a:avLst/>
          </a:prstGeom>
          <a:solidFill>
            <a:srgbClr val="F26B3A"/>
          </a:solidFill>
          <a:ln w="12700">
            <a:solidFill>
              <a:srgbClr val="F26B3A"/>
            </a:solidFill>
            <a:prstDash val="solid"/>
          </a:ln>
        </p:spPr>
        <p:txBody>
          <a:bodyPr/>
          <a:lstStyle/>
          <a:p>
            <a:endParaRPr lang="en-ZA"/>
          </a:p>
        </p:txBody>
      </p:sp>
      <p:sp>
        <p:nvSpPr>
          <p:cNvPr id="16" name="Text 14"/>
          <p:cNvSpPr/>
          <p:nvPr/>
        </p:nvSpPr>
        <p:spPr>
          <a:xfrm>
            <a:off x="3566160" y="2697480"/>
            <a:ext cx="242316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EARLY MORNINGS</a:t>
            </a:r>
            <a:endParaRPr lang="en-US" sz="1000" dirty="0"/>
          </a:p>
        </p:txBody>
      </p:sp>
      <p:sp>
        <p:nvSpPr>
          <p:cNvPr id="17" name="Text 15"/>
          <p:cNvSpPr/>
          <p:nvPr/>
        </p:nvSpPr>
        <p:spPr>
          <a:xfrm>
            <a:off x="3566160" y="3017520"/>
            <a:ext cx="2423160" cy="1097280"/>
          </a:xfrm>
          <a:prstGeom prst="rect">
            <a:avLst/>
          </a:prstGeom>
          <a:noFill/>
          <a:ln/>
        </p:spPr>
        <p:txBody>
          <a:bodyPr wrap="square" lIns="0" tIns="0" rIns="0" bIns="0" rtlCol="0" anchor="ctr"/>
          <a:lstStyle/>
          <a:p>
            <a:pPr marL="0" indent="0">
              <a:buNone/>
            </a:pPr>
            <a:r>
              <a:rPr lang="en-US" sz="1350" b="1" dirty="0">
                <a:solidFill>
                  <a:srgbClr val="0F172A"/>
                </a:solidFill>
                <a:latin typeface="Montserrat" pitchFamily="34" charset="0"/>
                <a:ea typeface="Montserrat" pitchFamily="34" charset="-122"/>
                <a:cs typeface="Montserrat" pitchFamily="34" charset="-120"/>
              </a:rPr>
              <a:t>International news block + Afrobeats music video rail</a:t>
            </a:r>
            <a:endParaRPr lang="en-US" sz="1350" dirty="0"/>
          </a:p>
        </p:txBody>
      </p:sp>
      <p:sp>
        <p:nvSpPr>
          <p:cNvPr id="18" name="Text 16"/>
          <p:cNvSpPr/>
          <p:nvPr/>
        </p:nvSpPr>
        <p:spPr>
          <a:xfrm>
            <a:off x="3566160" y="4178808"/>
            <a:ext cx="2331720" cy="201168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CNN already held early-morning commuters. Pair it with a 04:00–06:00 Channel O/Trace TV music block tuned to Gauteng and KwaZulu-Natal waking hours. Cheap to run, high repeat-visit potential.</a:t>
            </a:r>
            <a:endParaRPr lang="en-US" sz="1050" dirty="0"/>
          </a:p>
        </p:txBody>
      </p:sp>
      <p:sp>
        <p:nvSpPr>
          <p:cNvPr id="19" name="Shape 17"/>
          <p:cNvSpPr/>
          <p:nvPr/>
        </p:nvSpPr>
        <p:spPr>
          <a:xfrm>
            <a:off x="6217920" y="2514600"/>
            <a:ext cx="2743200" cy="3794760"/>
          </a:xfrm>
          <a:prstGeom prst="rect">
            <a:avLst/>
          </a:prstGeom>
          <a:solidFill>
            <a:srgbClr val="F4F6F9"/>
          </a:solidFill>
          <a:ln w="6350">
            <a:solidFill>
              <a:srgbClr val="E2E6EE"/>
            </a:solidFill>
            <a:prstDash val="solid"/>
          </a:ln>
        </p:spPr>
        <p:txBody>
          <a:bodyPr/>
          <a:lstStyle/>
          <a:p>
            <a:endParaRPr lang="en-ZA"/>
          </a:p>
        </p:txBody>
      </p:sp>
      <p:sp>
        <p:nvSpPr>
          <p:cNvPr id="20" name="Shape 18"/>
          <p:cNvSpPr/>
          <p:nvPr/>
        </p:nvSpPr>
        <p:spPr>
          <a:xfrm>
            <a:off x="6217920" y="2514600"/>
            <a:ext cx="73152" cy="3794760"/>
          </a:xfrm>
          <a:prstGeom prst="rect">
            <a:avLst/>
          </a:prstGeom>
          <a:solidFill>
            <a:srgbClr val="F26B3A"/>
          </a:solidFill>
          <a:ln w="12700">
            <a:solidFill>
              <a:srgbClr val="F26B3A"/>
            </a:solidFill>
            <a:prstDash val="solid"/>
          </a:ln>
        </p:spPr>
        <p:txBody>
          <a:bodyPr/>
          <a:lstStyle/>
          <a:p>
            <a:endParaRPr lang="en-ZA"/>
          </a:p>
        </p:txBody>
      </p:sp>
      <p:sp>
        <p:nvSpPr>
          <p:cNvPr id="21" name="Text 19"/>
          <p:cNvSpPr/>
          <p:nvPr/>
        </p:nvSpPr>
        <p:spPr>
          <a:xfrm>
            <a:off x="6446520" y="2697480"/>
            <a:ext cx="242316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SUNDAY EVENINGS</a:t>
            </a:r>
            <a:endParaRPr lang="en-US" sz="1000" dirty="0"/>
          </a:p>
        </p:txBody>
      </p:sp>
      <p:sp>
        <p:nvSpPr>
          <p:cNvPr id="22" name="Text 20"/>
          <p:cNvSpPr/>
          <p:nvPr/>
        </p:nvSpPr>
        <p:spPr>
          <a:xfrm>
            <a:off x="6446520" y="3017520"/>
            <a:ext cx="2423160" cy="1097280"/>
          </a:xfrm>
          <a:prstGeom prst="rect">
            <a:avLst/>
          </a:prstGeom>
          <a:noFill/>
          <a:ln/>
        </p:spPr>
        <p:txBody>
          <a:bodyPr wrap="square" lIns="0" tIns="0" rIns="0" bIns="0" rtlCol="0" anchor="ctr"/>
          <a:lstStyle/>
          <a:p>
            <a:pPr marL="0" indent="0">
              <a:buNone/>
            </a:pPr>
            <a:r>
              <a:rPr lang="en-US" sz="1350" b="1" dirty="0">
                <a:solidFill>
                  <a:srgbClr val="0F172A"/>
                </a:solidFill>
                <a:latin typeface="Montserrat" pitchFamily="34" charset="0"/>
                <a:ea typeface="Montserrat" pitchFamily="34" charset="-122"/>
                <a:cs typeface="Montserrat" pitchFamily="34" charset="-120"/>
              </a:rPr>
              <a:t>South African film &amp; local drama premieres</a:t>
            </a:r>
            <a:endParaRPr lang="en-US" sz="1350" dirty="0"/>
          </a:p>
        </p:txBody>
      </p:sp>
      <p:sp>
        <p:nvSpPr>
          <p:cNvPr id="23" name="Text 21"/>
          <p:cNvSpPr/>
          <p:nvPr/>
        </p:nvSpPr>
        <p:spPr>
          <a:xfrm>
            <a:off x="6446520" y="4178808"/>
            <a:ext cx="2331720" cy="201168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A weekly local premiere window would counter the post-weekend drop-off and give marketing a push-notification hook. Leans on Africa Magic and M-Net catalogue strengths currently under-used.</a:t>
            </a:r>
            <a:endParaRPr lang="en-US" sz="1050" dirty="0"/>
          </a:p>
        </p:txBody>
      </p:sp>
      <p:sp>
        <p:nvSpPr>
          <p:cNvPr id="24" name="Shape 22"/>
          <p:cNvSpPr/>
          <p:nvPr/>
        </p:nvSpPr>
        <p:spPr>
          <a:xfrm>
            <a:off x="9098280" y="2514600"/>
            <a:ext cx="2743200" cy="3794760"/>
          </a:xfrm>
          <a:prstGeom prst="rect">
            <a:avLst/>
          </a:prstGeom>
          <a:solidFill>
            <a:srgbClr val="F4F6F9"/>
          </a:solidFill>
          <a:ln w="6350">
            <a:solidFill>
              <a:srgbClr val="E2E6EE"/>
            </a:solidFill>
            <a:prstDash val="solid"/>
          </a:ln>
        </p:spPr>
        <p:txBody>
          <a:bodyPr/>
          <a:lstStyle/>
          <a:p>
            <a:endParaRPr lang="en-ZA"/>
          </a:p>
        </p:txBody>
      </p:sp>
      <p:sp>
        <p:nvSpPr>
          <p:cNvPr id="25" name="Shape 23"/>
          <p:cNvSpPr/>
          <p:nvPr/>
        </p:nvSpPr>
        <p:spPr>
          <a:xfrm>
            <a:off x="9098280" y="2514600"/>
            <a:ext cx="73152" cy="3794760"/>
          </a:xfrm>
          <a:prstGeom prst="rect">
            <a:avLst/>
          </a:prstGeom>
          <a:solidFill>
            <a:srgbClr val="F26B3A"/>
          </a:solidFill>
          <a:ln w="12700">
            <a:solidFill>
              <a:srgbClr val="F26B3A"/>
            </a:solidFill>
            <a:prstDash val="solid"/>
          </a:ln>
        </p:spPr>
        <p:txBody>
          <a:bodyPr/>
          <a:lstStyle/>
          <a:p>
            <a:endParaRPr lang="en-ZA"/>
          </a:p>
        </p:txBody>
      </p:sp>
      <p:sp>
        <p:nvSpPr>
          <p:cNvPr id="26" name="Text 24"/>
          <p:cNvSpPr/>
          <p:nvPr/>
        </p:nvSpPr>
        <p:spPr>
          <a:xfrm>
            <a:off x="9326880" y="2697480"/>
            <a:ext cx="2423160" cy="274320"/>
          </a:xfrm>
          <a:prstGeom prst="rect">
            <a:avLst/>
          </a:prstGeom>
          <a:noFill/>
          <a:ln/>
        </p:spPr>
        <p:txBody>
          <a:bodyPr wrap="square" rtlCol="0" anchor="ctr"/>
          <a:lstStyle/>
          <a:p>
            <a:pPr marL="0" indent="0">
              <a:buNone/>
            </a:pPr>
            <a:r>
              <a:rPr lang="en-US" sz="1000" b="1" kern="0" spc="300" dirty="0">
                <a:solidFill>
                  <a:srgbClr val="F26B3A"/>
                </a:solidFill>
                <a:latin typeface="Montserrat" pitchFamily="34" charset="0"/>
                <a:ea typeface="Montserrat" pitchFamily="34" charset="-122"/>
                <a:cs typeface="Montserrat" pitchFamily="34" charset="-120"/>
              </a:rPr>
              <a:t>POST-TOURNAMENT LULLS</a:t>
            </a:r>
            <a:endParaRPr lang="en-US" sz="1000" dirty="0"/>
          </a:p>
        </p:txBody>
      </p:sp>
      <p:sp>
        <p:nvSpPr>
          <p:cNvPr id="27" name="Text 25"/>
          <p:cNvSpPr/>
          <p:nvPr/>
        </p:nvSpPr>
        <p:spPr>
          <a:xfrm>
            <a:off x="9326880" y="3017520"/>
            <a:ext cx="2423160" cy="1097280"/>
          </a:xfrm>
          <a:prstGeom prst="rect">
            <a:avLst/>
          </a:prstGeom>
          <a:noFill/>
          <a:ln/>
        </p:spPr>
        <p:txBody>
          <a:bodyPr wrap="square" lIns="0" tIns="0" rIns="0" bIns="0" rtlCol="0" anchor="ctr"/>
          <a:lstStyle/>
          <a:p>
            <a:pPr marL="0" indent="0">
              <a:buNone/>
            </a:pPr>
            <a:r>
              <a:rPr lang="en-US" sz="1350" b="1" dirty="0">
                <a:solidFill>
                  <a:srgbClr val="0F172A"/>
                </a:solidFill>
                <a:latin typeface="Montserrat" pitchFamily="34" charset="0"/>
                <a:ea typeface="Montserrat" pitchFamily="34" charset="-122"/>
                <a:cs typeface="Montserrat" pitchFamily="34" charset="-120"/>
              </a:rPr>
              <a:t>Scripted sport &amp; documentary back-catalogue</a:t>
            </a:r>
            <a:endParaRPr lang="en-US" sz="1350" dirty="0"/>
          </a:p>
        </p:txBody>
      </p:sp>
      <p:sp>
        <p:nvSpPr>
          <p:cNvPr id="28" name="Text 26"/>
          <p:cNvSpPr/>
          <p:nvPr/>
        </p:nvSpPr>
        <p:spPr>
          <a:xfrm>
            <a:off x="9326880" y="4178808"/>
            <a:ext cx="2331720" cy="2011680"/>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When live sport is off-air, minutes collapse. A stocked 'story-of-the-game' documentary slot plus scripted sport drama would keep the sport audience on platform between tournaments.</a:t>
            </a:r>
            <a:endParaRPr lang="en-US" sz="1050" dirty="0"/>
          </a:p>
        </p:txBody>
      </p:sp>
      <p:sp>
        <p:nvSpPr>
          <p:cNvPr id="29" name="Shape 27"/>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30" name="Text 28"/>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31" name="Text 29"/>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3  //  What we recommend</a:t>
            </a:r>
            <a:endParaRPr lang="en-US" sz="900" dirty="0"/>
          </a:p>
        </p:txBody>
      </p:sp>
      <p:sp>
        <p:nvSpPr>
          <p:cNvPr id="32" name="Text 30"/>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GROWING THE BASE</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Five moves, ranked by what they can reach</a:t>
            </a:r>
            <a:endParaRPr lang="en-US" sz="2800" dirty="0"/>
          </a:p>
        </p:txBody>
      </p:sp>
      <p:sp>
        <p:nvSpPr>
          <p:cNvPr id="5" name="Shape 3"/>
          <p:cNvSpPr/>
          <p:nvPr/>
        </p:nvSpPr>
        <p:spPr>
          <a:xfrm>
            <a:off x="457200" y="1554480"/>
            <a:ext cx="11247120" cy="384048"/>
          </a:xfrm>
          <a:prstGeom prst="rect">
            <a:avLst/>
          </a:prstGeom>
          <a:solidFill>
            <a:srgbClr val="15233C"/>
          </a:solidFill>
          <a:ln w="12700">
            <a:solidFill>
              <a:srgbClr val="15233C"/>
            </a:solidFill>
            <a:prstDash val="solid"/>
          </a:ln>
        </p:spPr>
        <p:txBody>
          <a:bodyPr/>
          <a:lstStyle/>
          <a:p>
            <a:endParaRPr lang="en-ZA"/>
          </a:p>
        </p:txBody>
      </p:sp>
      <p:sp>
        <p:nvSpPr>
          <p:cNvPr id="6" name="Text 4"/>
          <p:cNvSpPr/>
          <p:nvPr/>
        </p:nvSpPr>
        <p:spPr>
          <a:xfrm>
            <a:off x="566928" y="1618488"/>
            <a:ext cx="3840480" cy="274320"/>
          </a:xfrm>
          <a:prstGeom prst="rect">
            <a:avLst/>
          </a:prstGeom>
          <a:noFill/>
          <a:ln/>
        </p:spPr>
        <p:txBody>
          <a:bodyPr wrap="square" rtlCol="0" anchor="ctr"/>
          <a:lstStyle/>
          <a:p>
            <a:pPr marL="0" indent="0">
              <a:buNone/>
            </a:pPr>
            <a:r>
              <a:rPr lang="en-US" sz="1000" b="1" kern="0" spc="300" dirty="0">
                <a:solidFill>
                  <a:srgbClr val="E8B839"/>
                </a:solidFill>
                <a:latin typeface="Montserrat" pitchFamily="34" charset="0"/>
                <a:ea typeface="Montserrat" pitchFamily="34" charset="-122"/>
                <a:cs typeface="Montserrat" pitchFamily="34" charset="-120"/>
              </a:rPr>
              <a:t>INITIATIVE</a:t>
            </a:r>
            <a:endParaRPr lang="en-US" sz="1000" dirty="0"/>
          </a:p>
        </p:txBody>
      </p:sp>
      <p:sp>
        <p:nvSpPr>
          <p:cNvPr id="7" name="Text 5"/>
          <p:cNvSpPr/>
          <p:nvPr/>
        </p:nvSpPr>
        <p:spPr>
          <a:xfrm>
            <a:off x="4498848" y="1618488"/>
            <a:ext cx="3017520" cy="274320"/>
          </a:xfrm>
          <a:prstGeom prst="rect">
            <a:avLst/>
          </a:prstGeom>
          <a:noFill/>
          <a:ln/>
        </p:spPr>
        <p:txBody>
          <a:bodyPr wrap="square" rtlCol="0" anchor="ctr"/>
          <a:lstStyle/>
          <a:p>
            <a:pPr marL="0" indent="0">
              <a:buNone/>
            </a:pPr>
            <a:r>
              <a:rPr lang="en-US" sz="1000" b="1" kern="0" spc="300" dirty="0">
                <a:solidFill>
                  <a:srgbClr val="E8B839"/>
                </a:solidFill>
                <a:latin typeface="Montserrat" pitchFamily="34" charset="0"/>
                <a:ea typeface="Montserrat" pitchFamily="34" charset="-122"/>
                <a:cs typeface="Montserrat" pitchFamily="34" charset="-120"/>
              </a:rPr>
              <a:t>WHO IT REACHES</a:t>
            </a:r>
            <a:endParaRPr lang="en-US" sz="1000" dirty="0"/>
          </a:p>
        </p:txBody>
      </p:sp>
      <p:sp>
        <p:nvSpPr>
          <p:cNvPr id="8" name="Text 6"/>
          <p:cNvSpPr/>
          <p:nvPr/>
        </p:nvSpPr>
        <p:spPr>
          <a:xfrm>
            <a:off x="7607808" y="1618488"/>
            <a:ext cx="4206240" cy="274320"/>
          </a:xfrm>
          <a:prstGeom prst="rect">
            <a:avLst/>
          </a:prstGeom>
          <a:noFill/>
          <a:ln/>
        </p:spPr>
        <p:txBody>
          <a:bodyPr wrap="square" rtlCol="0" anchor="ctr"/>
          <a:lstStyle/>
          <a:p>
            <a:pPr marL="0" indent="0">
              <a:buNone/>
            </a:pPr>
            <a:r>
              <a:rPr lang="en-US" sz="1000" b="1" kern="0" spc="300" dirty="0">
                <a:solidFill>
                  <a:srgbClr val="E8B839"/>
                </a:solidFill>
                <a:latin typeface="Montserrat" pitchFamily="34" charset="0"/>
                <a:ea typeface="Montserrat" pitchFamily="34" charset="-122"/>
                <a:cs typeface="Montserrat" pitchFamily="34" charset="-120"/>
              </a:rPr>
              <a:t>WHY IT WORKS</a:t>
            </a:r>
            <a:endParaRPr lang="en-US" sz="1000" dirty="0"/>
          </a:p>
        </p:txBody>
      </p:sp>
      <p:sp>
        <p:nvSpPr>
          <p:cNvPr id="9" name="Shape 7"/>
          <p:cNvSpPr/>
          <p:nvPr/>
        </p:nvSpPr>
        <p:spPr>
          <a:xfrm>
            <a:off x="457200" y="1965960"/>
            <a:ext cx="11247120" cy="841248"/>
          </a:xfrm>
          <a:prstGeom prst="rect">
            <a:avLst/>
          </a:prstGeom>
          <a:solidFill>
            <a:srgbClr val="F4F6F9"/>
          </a:solidFill>
          <a:ln w="12700">
            <a:solidFill>
              <a:srgbClr val="E2E6EE"/>
            </a:solidFill>
            <a:prstDash val="solid"/>
          </a:ln>
        </p:spPr>
        <p:txBody>
          <a:bodyPr/>
          <a:lstStyle/>
          <a:p>
            <a:endParaRPr lang="en-ZA"/>
          </a:p>
        </p:txBody>
      </p:sp>
      <p:sp>
        <p:nvSpPr>
          <p:cNvPr id="10" name="Text 8"/>
          <p:cNvSpPr/>
          <p:nvPr/>
        </p:nvSpPr>
        <p:spPr>
          <a:xfrm>
            <a:off x="566928" y="2057400"/>
            <a:ext cx="3749040" cy="658368"/>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01  Fix the first-session experience</a:t>
            </a:r>
            <a:endParaRPr lang="en-US" sz="1300" dirty="0"/>
          </a:p>
        </p:txBody>
      </p:sp>
      <p:sp>
        <p:nvSpPr>
          <p:cNvPr id="11" name="Text 9"/>
          <p:cNvSpPr/>
          <p:nvPr/>
        </p:nvSpPr>
        <p:spPr>
          <a:xfrm>
            <a:off x="4498848" y="2057400"/>
            <a:ext cx="2926080" cy="658368"/>
          </a:xfrm>
          <a:prstGeom prst="rect">
            <a:avLst/>
          </a:prstGeom>
          <a:noFill/>
          <a:ln/>
        </p:spPr>
        <p:txBody>
          <a:bodyPr wrap="square" lIns="0" tIns="0" rIns="0" bIns="0" rtlCol="0" anchor="ctr"/>
          <a:lstStyle/>
          <a:p>
            <a:pPr marL="0" indent="0">
              <a:buNone/>
            </a:pPr>
            <a:r>
              <a:rPr lang="en-US" sz="1100" b="1" i="1" dirty="0">
                <a:solidFill>
                  <a:srgbClr val="15233C"/>
                </a:solidFill>
                <a:latin typeface="Montserrat" pitchFamily="34" charset="0"/>
                <a:ea typeface="Montserrat" pitchFamily="34" charset="-122"/>
                <a:cs typeface="Montserrat" pitchFamily="34" charset="-120"/>
              </a:rPr>
              <a:t>The 51% that never returned</a:t>
            </a:r>
            <a:endParaRPr lang="en-US" sz="1100" dirty="0"/>
          </a:p>
        </p:txBody>
      </p:sp>
      <p:sp>
        <p:nvSpPr>
          <p:cNvPr id="12" name="Text 10"/>
          <p:cNvSpPr/>
          <p:nvPr/>
        </p:nvSpPr>
        <p:spPr>
          <a:xfrm>
            <a:off x="7607808" y="2039112"/>
            <a:ext cx="4114800" cy="749808"/>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Single biggest lift available. A short, data-driven onboarding rail — 'Because you watched X' — in place by week two would target the drop-off directly.</a:t>
            </a:r>
            <a:endParaRPr lang="en-US" sz="1050" dirty="0"/>
          </a:p>
        </p:txBody>
      </p:sp>
      <p:sp>
        <p:nvSpPr>
          <p:cNvPr id="13" name="Text 11"/>
          <p:cNvSpPr/>
          <p:nvPr/>
        </p:nvSpPr>
        <p:spPr>
          <a:xfrm>
            <a:off x="566928" y="2953512"/>
            <a:ext cx="3749040" cy="658368"/>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02  Build a female-first content rail</a:t>
            </a:r>
            <a:endParaRPr lang="en-US" sz="1300" dirty="0"/>
          </a:p>
        </p:txBody>
      </p:sp>
      <p:sp>
        <p:nvSpPr>
          <p:cNvPr id="14" name="Text 12"/>
          <p:cNvSpPr/>
          <p:nvPr/>
        </p:nvSpPr>
        <p:spPr>
          <a:xfrm>
            <a:off x="4498848" y="2953512"/>
            <a:ext cx="2926080" cy="658368"/>
          </a:xfrm>
          <a:prstGeom prst="rect">
            <a:avLst/>
          </a:prstGeom>
          <a:noFill/>
          <a:ln/>
        </p:spPr>
        <p:txBody>
          <a:bodyPr wrap="square" lIns="0" tIns="0" rIns="0" bIns="0" rtlCol="0" anchor="ctr"/>
          <a:lstStyle/>
          <a:p>
            <a:pPr marL="0" indent="0">
              <a:buNone/>
            </a:pPr>
            <a:r>
              <a:rPr lang="en-US" sz="1100" b="1" i="1" dirty="0">
                <a:solidFill>
                  <a:srgbClr val="15233C"/>
                </a:solidFill>
                <a:latin typeface="Montserrat" pitchFamily="34" charset="0"/>
                <a:ea typeface="Montserrat" pitchFamily="34" charset="-122"/>
                <a:cs typeface="Montserrat" pitchFamily="34" charset="-120"/>
              </a:rPr>
              <a:t>South African women (89% unreached)</a:t>
            </a:r>
            <a:endParaRPr lang="en-US" sz="1100" dirty="0"/>
          </a:p>
        </p:txBody>
      </p:sp>
      <p:sp>
        <p:nvSpPr>
          <p:cNvPr id="15" name="Text 13"/>
          <p:cNvSpPr/>
          <p:nvPr/>
        </p:nvSpPr>
        <p:spPr>
          <a:xfrm>
            <a:off x="7607808" y="2935224"/>
            <a:ext cx="4114800" cy="749808"/>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A dedicated lifestyle / local drama / Afrobeats rail, promoted through Women's Month, opens a segment currently delivering 9% of users and 9% of minutes.</a:t>
            </a:r>
            <a:endParaRPr lang="en-US" sz="1050" dirty="0"/>
          </a:p>
        </p:txBody>
      </p:sp>
      <p:sp>
        <p:nvSpPr>
          <p:cNvPr id="16" name="Shape 14"/>
          <p:cNvSpPr/>
          <p:nvPr/>
        </p:nvSpPr>
        <p:spPr>
          <a:xfrm>
            <a:off x="457200" y="3758184"/>
            <a:ext cx="11247120" cy="841248"/>
          </a:xfrm>
          <a:prstGeom prst="rect">
            <a:avLst/>
          </a:prstGeom>
          <a:solidFill>
            <a:srgbClr val="F4F6F9"/>
          </a:solidFill>
          <a:ln w="12700">
            <a:solidFill>
              <a:srgbClr val="E2E6EE"/>
            </a:solidFill>
            <a:prstDash val="solid"/>
          </a:ln>
        </p:spPr>
        <p:txBody>
          <a:bodyPr/>
          <a:lstStyle/>
          <a:p>
            <a:endParaRPr lang="en-ZA"/>
          </a:p>
        </p:txBody>
      </p:sp>
      <p:sp>
        <p:nvSpPr>
          <p:cNvPr id="17" name="Text 15"/>
          <p:cNvSpPr/>
          <p:nvPr/>
        </p:nvSpPr>
        <p:spPr>
          <a:xfrm>
            <a:off x="566928" y="3849624"/>
            <a:ext cx="3749040" cy="658368"/>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03  Package sport for between tournaments</a:t>
            </a:r>
            <a:endParaRPr lang="en-US" sz="1300" dirty="0"/>
          </a:p>
        </p:txBody>
      </p:sp>
      <p:sp>
        <p:nvSpPr>
          <p:cNvPr id="18" name="Text 16"/>
          <p:cNvSpPr/>
          <p:nvPr/>
        </p:nvSpPr>
        <p:spPr>
          <a:xfrm>
            <a:off x="4498848" y="3849624"/>
            <a:ext cx="2926080" cy="658368"/>
          </a:xfrm>
          <a:prstGeom prst="rect">
            <a:avLst/>
          </a:prstGeom>
          <a:noFill/>
          <a:ln/>
        </p:spPr>
        <p:txBody>
          <a:bodyPr wrap="square" lIns="0" tIns="0" rIns="0" bIns="0" rtlCol="0" anchor="ctr"/>
          <a:lstStyle/>
          <a:p>
            <a:pPr marL="0" indent="0">
              <a:buNone/>
            </a:pPr>
            <a:r>
              <a:rPr lang="en-US" sz="1100" b="1" i="1" dirty="0">
                <a:solidFill>
                  <a:srgbClr val="15233C"/>
                </a:solidFill>
                <a:latin typeface="Montserrat" pitchFamily="34" charset="0"/>
                <a:ea typeface="Montserrat" pitchFamily="34" charset="-122"/>
                <a:cs typeface="Montserrat" pitchFamily="34" charset="-120"/>
              </a:rPr>
              <a:t>Our loyal sport audience</a:t>
            </a:r>
            <a:endParaRPr lang="en-US" sz="1100" dirty="0"/>
          </a:p>
        </p:txBody>
      </p:sp>
      <p:sp>
        <p:nvSpPr>
          <p:cNvPr id="19" name="Text 17"/>
          <p:cNvSpPr/>
          <p:nvPr/>
        </p:nvSpPr>
        <p:spPr>
          <a:xfrm>
            <a:off x="7607808" y="3831336"/>
            <a:ext cx="4114800" cy="749808"/>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Documentary blocks, replays, second-screen stats content, fantasy league tie-ins. Converts an event-driven audience into a habit-driven one.</a:t>
            </a:r>
            <a:endParaRPr lang="en-US" sz="1050" dirty="0"/>
          </a:p>
        </p:txBody>
      </p:sp>
      <p:sp>
        <p:nvSpPr>
          <p:cNvPr id="20" name="Text 18"/>
          <p:cNvSpPr/>
          <p:nvPr/>
        </p:nvSpPr>
        <p:spPr>
          <a:xfrm>
            <a:off x="566928" y="4745736"/>
            <a:ext cx="3749040" cy="658368"/>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04  Referral &amp; household plans</a:t>
            </a:r>
            <a:endParaRPr lang="en-US" sz="1300" dirty="0"/>
          </a:p>
        </p:txBody>
      </p:sp>
      <p:sp>
        <p:nvSpPr>
          <p:cNvPr id="21" name="Text 19"/>
          <p:cNvSpPr/>
          <p:nvPr/>
        </p:nvSpPr>
        <p:spPr>
          <a:xfrm>
            <a:off x="4498848" y="4745736"/>
            <a:ext cx="2926080" cy="658368"/>
          </a:xfrm>
          <a:prstGeom prst="rect">
            <a:avLst/>
          </a:prstGeom>
          <a:noFill/>
          <a:ln/>
        </p:spPr>
        <p:txBody>
          <a:bodyPr wrap="square" lIns="0" tIns="0" rIns="0" bIns="0" rtlCol="0" anchor="ctr"/>
          <a:lstStyle/>
          <a:p>
            <a:pPr marL="0" indent="0">
              <a:buNone/>
            </a:pPr>
            <a:r>
              <a:rPr lang="en-US" sz="1100" b="1" i="1" dirty="0">
                <a:solidFill>
                  <a:srgbClr val="15233C"/>
                </a:solidFill>
                <a:latin typeface="Montserrat" pitchFamily="34" charset="0"/>
                <a:ea typeface="Montserrat" pitchFamily="34" charset="-122"/>
                <a:cs typeface="Montserrat" pitchFamily="34" charset="-120"/>
              </a:rPr>
              <a:t>Indian/Asian &amp; Eastern Cape viewers</a:t>
            </a:r>
            <a:endParaRPr lang="en-US" sz="1100" dirty="0"/>
          </a:p>
        </p:txBody>
      </p:sp>
      <p:sp>
        <p:nvSpPr>
          <p:cNvPr id="22" name="Text 20"/>
          <p:cNvSpPr/>
          <p:nvPr/>
        </p:nvSpPr>
        <p:spPr>
          <a:xfrm>
            <a:off x="7607808" y="4727448"/>
            <a:ext cx="4114800" cy="749808"/>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These segments over-indexed on minutes per head — they are the right people to hand referral credits to. A family-plan pricing tier would unlock a second and third viewer per household.</a:t>
            </a:r>
            <a:endParaRPr lang="en-US" sz="1050" dirty="0"/>
          </a:p>
        </p:txBody>
      </p:sp>
      <p:sp>
        <p:nvSpPr>
          <p:cNvPr id="23" name="Shape 21"/>
          <p:cNvSpPr/>
          <p:nvPr/>
        </p:nvSpPr>
        <p:spPr>
          <a:xfrm>
            <a:off x="457200" y="5550408"/>
            <a:ext cx="11247120" cy="841248"/>
          </a:xfrm>
          <a:prstGeom prst="rect">
            <a:avLst/>
          </a:prstGeom>
          <a:solidFill>
            <a:srgbClr val="F4F6F9"/>
          </a:solidFill>
          <a:ln w="12700">
            <a:solidFill>
              <a:srgbClr val="E2E6EE"/>
            </a:solidFill>
            <a:prstDash val="solid"/>
          </a:ln>
        </p:spPr>
        <p:txBody>
          <a:bodyPr/>
          <a:lstStyle/>
          <a:p>
            <a:endParaRPr lang="en-ZA"/>
          </a:p>
        </p:txBody>
      </p:sp>
      <p:sp>
        <p:nvSpPr>
          <p:cNvPr id="24" name="Text 22"/>
          <p:cNvSpPr/>
          <p:nvPr/>
        </p:nvSpPr>
        <p:spPr>
          <a:xfrm>
            <a:off x="566928" y="5641848"/>
            <a:ext cx="3749040" cy="658368"/>
          </a:xfrm>
          <a:prstGeom prst="rect">
            <a:avLst/>
          </a:prstGeom>
          <a:noFill/>
          <a:ln/>
        </p:spPr>
        <p:txBody>
          <a:bodyPr wrap="square" lIns="0" tIns="0" rIns="0" bIns="0" rtlCol="0" anchor="ctr"/>
          <a:lstStyle/>
          <a:p>
            <a:pPr marL="0" indent="0">
              <a:buNone/>
            </a:pPr>
            <a:r>
              <a:rPr lang="en-US" sz="1300" b="1" dirty="0">
                <a:solidFill>
                  <a:srgbClr val="0F172A"/>
                </a:solidFill>
                <a:latin typeface="Montserrat" pitchFamily="34" charset="0"/>
                <a:ea typeface="Montserrat" pitchFamily="34" charset="-122"/>
                <a:cs typeface="Montserrat" pitchFamily="34" charset="-120"/>
              </a:rPr>
              <a:t>05  Geo-targeted acquisition outside Gauteng</a:t>
            </a:r>
            <a:endParaRPr lang="en-US" sz="1300" dirty="0"/>
          </a:p>
        </p:txBody>
      </p:sp>
      <p:sp>
        <p:nvSpPr>
          <p:cNvPr id="25" name="Text 23"/>
          <p:cNvSpPr/>
          <p:nvPr/>
        </p:nvSpPr>
        <p:spPr>
          <a:xfrm>
            <a:off x="4498848" y="5641848"/>
            <a:ext cx="2926080" cy="658368"/>
          </a:xfrm>
          <a:prstGeom prst="rect">
            <a:avLst/>
          </a:prstGeom>
          <a:noFill/>
          <a:ln/>
        </p:spPr>
        <p:txBody>
          <a:bodyPr wrap="square" lIns="0" tIns="0" rIns="0" bIns="0" rtlCol="0" anchor="ctr"/>
          <a:lstStyle/>
          <a:p>
            <a:pPr marL="0" indent="0">
              <a:buNone/>
            </a:pPr>
            <a:r>
              <a:rPr lang="en-US" sz="1100" b="1" i="1" dirty="0">
                <a:solidFill>
                  <a:srgbClr val="15233C"/>
                </a:solidFill>
                <a:latin typeface="Montserrat" pitchFamily="34" charset="0"/>
                <a:ea typeface="Montserrat" pitchFamily="34" charset="-122"/>
                <a:cs typeface="Montserrat" pitchFamily="34" charset="-120"/>
              </a:rPr>
              <a:t>Western &amp; Eastern Cape</a:t>
            </a:r>
            <a:endParaRPr lang="en-US" sz="1100" dirty="0"/>
          </a:p>
        </p:txBody>
      </p:sp>
      <p:sp>
        <p:nvSpPr>
          <p:cNvPr id="26" name="Text 24"/>
          <p:cNvSpPr/>
          <p:nvPr/>
        </p:nvSpPr>
        <p:spPr>
          <a:xfrm>
            <a:off x="7607808" y="5623560"/>
            <a:ext cx="4114800" cy="749808"/>
          </a:xfrm>
          <a:prstGeom prst="rect">
            <a:avLst/>
          </a:prstGeom>
          <a:noFill/>
          <a:ln/>
        </p:spPr>
        <p:txBody>
          <a:bodyPr wrap="square" lIns="0" tIns="0" rIns="0" bIns="0" rtlCol="0" anchor="ctr"/>
          <a:lstStyle/>
          <a:p>
            <a:pPr marL="0" indent="0">
              <a:buNone/>
            </a:pPr>
            <a:r>
              <a:rPr lang="en-US" sz="1050" dirty="0">
                <a:solidFill>
                  <a:srgbClr val="2B3444"/>
                </a:solidFill>
                <a:latin typeface="Montserrat" pitchFamily="34" charset="0"/>
                <a:ea typeface="Montserrat" pitchFamily="34" charset="-122"/>
                <a:cs typeface="Montserrat" pitchFamily="34" charset="-120"/>
              </a:rPr>
              <a:t>Cape viewers consumed more per head than Gauteng did. Paid acquisition spend is currently Gauteng-heavy; rebalancing 20% of it southward would buy cheaper, stickier users.</a:t>
            </a:r>
            <a:endParaRPr lang="en-US" sz="1050" dirty="0"/>
          </a:p>
        </p:txBody>
      </p:sp>
      <p:sp>
        <p:nvSpPr>
          <p:cNvPr id="27" name="Shape 25"/>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28" name="Text 26"/>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29" name="Text 27"/>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3  //  What we recommend</a:t>
            </a:r>
            <a:endParaRPr lang="en-US" sz="900" dirty="0"/>
          </a:p>
        </p:txBody>
      </p:sp>
      <p:sp>
        <p:nvSpPr>
          <p:cNvPr id="30" name="Text 28"/>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502920"/>
            <a:ext cx="320040" cy="64008"/>
          </a:xfrm>
          <a:prstGeom prst="rect">
            <a:avLst/>
          </a:prstGeom>
          <a:solidFill>
            <a:srgbClr val="F26B3A"/>
          </a:solidFill>
          <a:ln w="12700">
            <a:solidFill>
              <a:srgbClr val="F26B3A"/>
            </a:solidFill>
            <a:prstDash val="solid"/>
          </a:ln>
        </p:spPr>
        <p:txBody>
          <a:bodyPr/>
          <a:lstStyle/>
          <a:p>
            <a:endParaRPr lang="en-ZA"/>
          </a:p>
        </p:txBody>
      </p:sp>
      <p:sp>
        <p:nvSpPr>
          <p:cNvPr id="3" name="Text 1"/>
          <p:cNvSpPr/>
          <p:nvPr/>
        </p:nvSpPr>
        <p:spPr>
          <a:xfrm>
            <a:off x="868680" y="384048"/>
            <a:ext cx="9144000" cy="292608"/>
          </a:xfrm>
          <a:prstGeom prst="rect">
            <a:avLst/>
          </a:prstGeom>
          <a:noFill/>
          <a:ln/>
        </p:spPr>
        <p:txBody>
          <a:bodyPr wrap="square" lIns="0" tIns="0" rIns="0" bIns="0" rtlCol="0" anchor="ctr"/>
          <a:lstStyle/>
          <a:p>
            <a:pPr marL="0" indent="0">
              <a:buNone/>
            </a:pPr>
            <a:r>
              <a:rPr lang="en-US" sz="1000" b="1" kern="0" spc="400" dirty="0">
                <a:solidFill>
                  <a:srgbClr val="F26B3A"/>
                </a:solidFill>
                <a:latin typeface="Montserrat" pitchFamily="34" charset="0"/>
                <a:ea typeface="Montserrat" pitchFamily="34" charset="-122"/>
                <a:cs typeface="Montserrat" pitchFamily="34" charset="-120"/>
              </a:rPr>
              <a:t>THE FIRST 90 DAYS</a:t>
            </a:r>
            <a:endParaRPr lang="en-US" sz="1000" dirty="0"/>
          </a:p>
        </p:txBody>
      </p:sp>
      <p:sp>
        <p:nvSpPr>
          <p:cNvPr id="4" name="Text 2"/>
          <p:cNvSpPr/>
          <p:nvPr/>
        </p:nvSpPr>
        <p:spPr>
          <a:xfrm>
            <a:off x="457200" y="685800"/>
            <a:ext cx="11247120" cy="777240"/>
          </a:xfrm>
          <a:prstGeom prst="rect">
            <a:avLst/>
          </a:prstGeom>
          <a:noFill/>
          <a:ln/>
        </p:spPr>
        <p:txBody>
          <a:bodyPr wrap="square" lIns="0" tIns="0" rIns="0" bIns="0" rtlCol="0" anchor="ctr"/>
          <a:lstStyle/>
          <a:p>
            <a:pPr marL="0" indent="0">
              <a:buNone/>
            </a:pPr>
            <a:r>
              <a:rPr lang="en-US" sz="2800" b="1" dirty="0">
                <a:solidFill>
                  <a:srgbClr val="0F172A"/>
                </a:solidFill>
                <a:latin typeface="Montserrat" pitchFamily="34" charset="0"/>
                <a:ea typeface="Montserrat" pitchFamily="34" charset="-122"/>
                <a:cs typeface="Montserrat" pitchFamily="34" charset="-120"/>
              </a:rPr>
              <a:t>Sequencing the work to show lift inside one quarter</a:t>
            </a:r>
            <a:endParaRPr lang="en-US" sz="2800" dirty="0"/>
          </a:p>
        </p:txBody>
      </p:sp>
      <p:sp>
        <p:nvSpPr>
          <p:cNvPr id="5" name="Shape 3"/>
          <p:cNvSpPr/>
          <p:nvPr/>
        </p:nvSpPr>
        <p:spPr>
          <a:xfrm>
            <a:off x="457200" y="1600200"/>
            <a:ext cx="3703320" cy="4709160"/>
          </a:xfrm>
          <a:prstGeom prst="rect">
            <a:avLst/>
          </a:prstGeom>
          <a:solidFill>
            <a:srgbClr val="FFFFFF"/>
          </a:solidFill>
          <a:ln w="9525">
            <a:solidFill>
              <a:srgbClr val="E2E6EE"/>
            </a:solidFill>
            <a:prstDash val="solid"/>
          </a:ln>
        </p:spPr>
        <p:txBody>
          <a:bodyPr/>
          <a:lstStyle/>
          <a:p>
            <a:endParaRPr lang="en-ZA"/>
          </a:p>
        </p:txBody>
      </p:sp>
      <p:sp>
        <p:nvSpPr>
          <p:cNvPr id="6" name="Shape 4"/>
          <p:cNvSpPr/>
          <p:nvPr/>
        </p:nvSpPr>
        <p:spPr>
          <a:xfrm>
            <a:off x="457200" y="1600200"/>
            <a:ext cx="3703320" cy="640080"/>
          </a:xfrm>
          <a:prstGeom prst="rect">
            <a:avLst/>
          </a:prstGeom>
          <a:solidFill>
            <a:srgbClr val="F26B3A"/>
          </a:solidFill>
          <a:ln w="12700">
            <a:solidFill>
              <a:srgbClr val="F26B3A"/>
            </a:solidFill>
            <a:prstDash val="solid"/>
          </a:ln>
        </p:spPr>
        <p:txBody>
          <a:bodyPr/>
          <a:lstStyle/>
          <a:p>
            <a:endParaRPr lang="en-ZA"/>
          </a:p>
        </p:txBody>
      </p:sp>
      <p:sp>
        <p:nvSpPr>
          <p:cNvPr id="7" name="Text 5"/>
          <p:cNvSpPr/>
          <p:nvPr/>
        </p:nvSpPr>
        <p:spPr>
          <a:xfrm>
            <a:off x="685800" y="1691640"/>
            <a:ext cx="3429000" cy="228600"/>
          </a:xfrm>
          <a:prstGeom prst="rect">
            <a:avLst/>
          </a:prstGeom>
          <a:noFill/>
          <a:ln/>
        </p:spPr>
        <p:txBody>
          <a:bodyPr wrap="square" rtlCol="0" anchor="ctr"/>
          <a:lstStyle/>
          <a:p>
            <a:pPr marL="0" indent="0">
              <a:buNone/>
            </a:pPr>
            <a:r>
              <a:rPr lang="en-US" sz="1000" b="1" kern="0" spc="400" dirty="0">
                <a:solidFill>
                  <a:srgbClr val="FFFFFF"/>
                </a:solidFill>
                <a:latin typeface="Montserrat" pitchFamily="34" charset="0"/>
                <a:ea typeface="Montserrat" pitchFamily="34" charset="-122"/>
                <a:cs typeface="Montserrat" pitchFamily="34" charset="-120"/>
              </a:rPr>
              <a:t>DAYS 1 – 30</a:t>
            </a:r>
            <a:endParaRPr lang="en-US" sz="1000" dirty="0"/>
          </a:p>
        </p:txBody>
      </p:sp>
      <p:sp>
        <p:nvSpPr>
          <p:cNvPr id="8" name="Text 6"/>
          <p:cNvSpPr/>
          <p:nvPr/>
        </p:nvSpPr>
        <p:spPr>
          <a:xfrm>
            <a:off x="685800" y="1901952"/>
            <a:ext cx="3429000" cy="320040"/>
          </a:xfrm>
          <a:prstGeom prst="rect">
            <a:avLst/>
          </a:prstGeom>
          <a:noFill/>
          <a:ln/>
        </p:spPr>
        <p:txBody>
          <a:bodyPr wrap="square" lIns="0" tIns="0" rIns="0" bIns="0" rtlCol="0" anchor="ctr"/>
          <a:lstStyle/>
          <a:p>
            <a:pPr marL="0" indent="0">
              <a:buNone/>
            </a:pPr>
            <a:r>
              <a:rPr lang="en-US" sz="1800" b="1" dirty="0">
                <a:solidFill>
                  <a:srgbClr val="FFFFFF"/>
                </a:solidFill>
                <a:latin typeface="Montserrat" pitchFamily="34" charset="0"/>
                <a:ea typeface="Montserrat" pitchFamily="34" charset="-122"/>
                <a:cs typeface="Montserrat" pitchFamily="34" charset="-120"/>
              </a:rPr>
              <a:t>Plug the leak</a:t>
            </a:r>
            <a:endParaRPr lang="en-US" sz="1800" dirty="0"/>
          </a:p>
        </p:txBody>
      </p:sp>
      <p:sp>
        <p:nvSpPr>
          <p:cNvPr id="9" name="Text 7"/>
          <p:cNvSpPr/>
          <p:nvPr/>
        </p:nvSpPr>
        <p:spPr>
          <a:xfrm>
            <a:off x="685800" y="2468880"/>
            <a:ext cx="3291840" cy="370332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Launch returning-viewer onboarding rail on home screen</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Re-cut Monday schedule around weekend sport recaps</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Ship push-notification triggers for dropped-off users</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Clean channel tail — pause sub-1% channels pending review</a:t>
            </a:r>
            <a:endParaRPr lang="en-US" sz="1150" dirty="0"/>
          </a:p>
        </p:txBody>
      </p:sp>
      <p:sp>
        <p:nvSpPr>
          <p:cNvPr id="10" name="Shape 8"/>
          <p:cNvSpPr/>
          <p:nvPr/>
        </p:nvSpPr>
        <p:spPr>
          <a:xfrm>
            <a:off x="4270248" y="1600200"/>
            <a:ext cx="3703320" cy="4709160"/>
          </a:xfrm>
          <a:prstGeom prst="rect">
            <a:avLst/>
          </a:prstGeom>
          <a:solidFill>
            <a:srgbClr val="FFFFFF"/>
          </a:solidFill>
          <a:ln w="9525">
            <a:solidFill>
              <a:srgbClr val="E2E6EE"/>
            </a:solidFill>
            <a:prstDash val="solid"/>
          </a:ln>
        </p:spPr>
        <p:txBody>
          <a:bodyPr/>
          <a:lstStyle/>
          <a:p>
            <a:endParaRPr lang="en-ZA"/>
          </a:p>
        </p:txBody>
      </p:sp>
      <p:sp>
        <p:nvSpPr>
          <p:cNvPr id="11" name="Shape 9"/>
          <p:cNvSpPr/>
          <p:nvPr/>
        </p:nvSpPr>
        <p:spPr>
          <a:xfrm>
            <a:off x="4270248" y="1600200"/>
            <a:ext cx="3703320" cy="640080"/>
          </a:xfrm>
          <a:prstGeom prst="rect">
            <a:avLst/>
          </a:prstGeom>
          <a:solidFill>
            <a:srgbClr val="15233C"/>
          </a:solidFill>
          <a:ln w="12700">
            <a:solidFill>
              <a:srgbClr val="15233C"/>
            </a:solidFill>
            <a:prstDash val="solid"/>
          </a:ln>
        </p:spPr>
        <p:txBody>
          <a:bodyPr/>
          <a:lstStyle/>
          <a:p>
            <a:endParaRPr lang="en-ZA"/>
          </a:p>
        </p:txBody>
      </p:sp>
      <p:sp>
        <p:nvSpPr>
          <p:cNvPr id="12" name="Text 10"/>
          <p:cNvSpPr/>
          <p:nvPr/>
        </p:nvSpPr>
        <p:spPr>
          <a:xfrm>
            <a:off x="4498848" y="1691640"/>
            <a:ext cx="3429000" cy="228600"/>
          </a:xfrm>
          <a:prstGeom prst="rect">
            <a:avLst/>
          </a:prstGeom>
          <a:noFill/>
          <a:ln/>
        </p:spPr>
        <p:txBody>
          <a:bodyPr wrap="square" rtlCol="0" anchor="ctr"/>
          <a:lstStyle/>
          <a:p>
            <a:pPr marL="0" indent="0">
              <a:buNone/>
            </a:pPr>
            <a:r>
              <a:rPr lang="en-US" sz="1000" b="1" kern="0" spc="400" dirty="0">
                <a:solidFill>
                  <a:srgbClr val="E8B839"/>
                </a:solidFill>
                <a:latin typeface="Montserrat" pitchFamily="34" charset="0"/>
                <a:ea typeface="Montserrat" pitchFamily="34" charset="-122"/>
                <a:cs typeface="Montserrat" pitchFamily="34" charset="-120"/>
              </a:rPr>
              <a:t>DAYS 31 – 60</a:t>
            </a:r>
            <a:endParaRPr lang="en-US" sz="1000" dirty="0"/>
          </a:p>
        </p:txBody>
      </p:sp>
      <p:sp>
        <p:nvSpPr>
          <p:cNvPr id="13" name="Text 11"/>
          <p:cNvSpPr/>
          <p:nvPr/>
        </p:nvSpPr>
        <p:spPr>
          <a:xfrm>
            <a:off x="4498848" y="1901952"/>
            <a:ext cx="3429000" cy="320040"/>
          </a:xfrm>
          <a:prstGeom prst="rect">
            <a:avLst/>
          </a:prstGeom>
          <a:noFill/>
          <a:ln/>
        </p:spPr>
        <p:txBody>
          <a:bodyPr wrap="square" lIns="0" tIns="0" rIns="0" bIns="0" rtlCol="0" anchor="ctr"/>
          <a:lstStyle/>
          <a:p>
            <a:pPr marL="0" indent="0">
              <a:buNone/>
            </a:pPr>
            <a:r>
              <a:rPr lang="en-US" sz="1800" b="1" dirty="0">
                <a:solidFill>
                  <a:srgbClr val="FFFFFF"/>
                </a:solidFill>
                <a:latin typeface="Montserrat" pitchFamily="34" charset="0"/>
                <a:ea typeface="Montserrat" pitchFamily="34" charset="-122"/>
                <a:cs typeface="Montserrat" pitchFamily="34" charset="-120"/>
              </a:rPr>
              <a:t>Open new lanes</a:t>
            </a:r>
            <a:endParaRPr lang="en-US" sz="1800" dirty="0"/>
          </a:p>
        </p:txBody>
      </p:sp>
      <p:sp>
        <p:nvSpPr>
          <p:cNvPr id="14" name="Text 12"/>
          <p:cNvSpPr/>
          <p:nvPr/>
        </p:nvSpPr>
        <p:spPr>
          <a:xfrm>
            <a:off x="4498848" y="2468880"/>
            <a:ext cx="3291840" cy="370332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Launch female-first weekly content rail</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Pilot household / family subscription tier in Gauteng &amp; Western Cape</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Rebalance 20% of paid acquisition spend to the Cape provinces</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Programme early-morning Afrobeats music block</a:t>
            </a:r>
            <a:endParaRPr lang="en-US" sz="1150" dirty="0"/>
          </a:p>
        </p:txBody>
      </p:sp>
      <p:sp>
        <p:nvSpPr>
          <p:cNvPr id="15" name="Shape 13"/>
          <p:cNvSpPr/>
          <p:nvPr/>
        </p:nvSpPr>
        <p:spPr>
          <a:xfrm>
            <a:off x="8083296" y="1600200"/>
            <a:ext cx="3703320" cy="4709160"/>
          </a:xfrm>
          <a:prstGeom prst="rect">
            <a:avLst/>
          </a:prstGeom>
          <a:solidFill>
            <a:srgbClr val="FFFFFF"/>
          </a:solidFill>
          <a:ln w="9525">
            <a:solidFill>
              <a:srgbClr val="E2E6EE"/>
            </a:solidFill>
            <a:prstDash val="solid"/>
          </a:ln>
        </p:spPr>
        <p:txBody>
          <a:bodyPr/>
          <a:lstStyle/>
          <a:p>
            <a:endParaRPr lang="en-ZA"/>
          </a:p>
        </p:txBody>
      </p:sp>
      <p:sp>
        <p:nvSpPr>
          <p:cNvPr id="16" name="Shape 14"/>
          <p:cNvSpPr/>
          <p:nvPr/>
        </p:nvSpPr>
        <p:spPr>
          <a:xfrm>
            <a:off x="8083296" y="1600200"/>
            <a:ext cx="3703320" cy="640080"/>
          </a:xfrm>
          <a:prstGeom prst="rect">
            <a:avLst/>
          </a:prstGeom>
          <a:solidFill>
            <a:srgbClr val="E8B839"/>
          </a:solidFill>
          <a:ln w="12700">
            <a:solidFill>
              <a:srgbClr val="E8B839"/>
            </a:solidFill>
            <a:prstDash val="solid"/>
          </a:ln>
        </p:spPr>
        <p:txBody>
          <a:bodyPr/>
          <a:lstStyle/>
          <a:p>
            <a:endParaRPr lang="en-ZA"/>
          </a:p>
        </p:txBody>
      </p:sp>
      <p:sp>
        <p:nvSpPr>
          <p:cNvPr id="17" name="Text 15"/>
          <p:cNvSpPr/>
          <p:nvPr/>
        </p:nvSpPr>
        <p:spPr>
          <a:xfrm>
            <a:off x="8311896" y="1691640"/>
            <a:ext cx="3429000" cy="228600"/>
          </a:xfrm>
          <a:prstGeom prst="rect">
            <a:avLst/>
          </a:prstGeom>
          <a:noFill/>
          <a:ln/>
        </p:spPr>
        <p:txBody>
          <a:bodyPr wrap="square" rtlCol="0" anchor="ctr"/>
          <a:lstStyle/>
          <a:p>
            <a:pPr marL="0" indent="0">
              <a:buNone/>
            </a:pPr>
            <a:r>
              <a:rPr lang="en-US" sz="1000" b="1" kern="0" spc="400" dirty="0">
                <a:solidFill>
                  <a:srgbClr val="15233C"/>
                </a:solidFill>
                <a:latin typeface="Montserrat" pitchFamily="34" charset="0"/>
                <a:ea typeface="Montserrat" pitchFamily="34" charset="-122"/>
                <a:cs typeface="Montserrat" pitchFamily="34" charset="-120"/>
              </a:rPr>
              <a:t>DAYS 61 – 90</a:t>
            </a:r>
            <a:endParaRPr lang="en-US" sz="1000" dirty="0"/>
          </a:p>
        </p:txBody>
      </p:sp>
      <p:sp>
        <p:nvSpPr>
          <p:cNvPr id="18" name="Text 16"/>
          <p:cNvSpPr/>
          <p:nvPr/>
        </p:nvSpPr>
        <p:spPr>
          <a:xfrm>
            <a:off x="8311896" y="1901952"/>
            <a:ext cx="3429000" cy="320040"/>
          </a:xfrm>
          <a:prstGeom prst="rect">
            <a:avLst/>
          </a:prstGeom>
          <a:noFill/>
          <a:ln/>
        </p:spPr>
        <p:txBody>
          <a:bodyPr wrap="square" lIns="0" tIns="0" rIns="0" bIns="0" rtlCol="0" anchor="ctr"/>
          <a:lstStyle/>
          <a:p>
            <a:pPr marL="0" indent="0">
              <a:buNone/>
            </a:pPr>
            <a:r>
              <a:rPr lang="en-US" sz="1800" b="1" dirty="0">
                <a:solidFill>
                  <a:srgbClr val="15233C"/>
                </a:solidFill>
                <a:latin typeface="Montserrat" pitchFamily="34" charset="0"/>
                <a:ea typeface="Montserrat" pitchFamily="34" charset="-122"/>
                <a:cs typeface="Montserrat" pitchFamily="34" charset="-120"/>
              </a:rPr>
              <a:t>Harden the base</a:t>
            </a:r>
            <a:endParaRPr lang="en-US" sz="1800" dirty="0"/>
          </a:p>
        </p:txBody>
      </p:sp>
      <p:sp>
        <p:nvSpPr>
          <p:cNvPr id="19" name="Text 17"/>
          <p:cNvSpPr/>
          <p:nvPr/>
        </p:nvSpPr>
        <p:spPr>
          <a:xfrm>
            <a:off x="8311896" y="2468880"/>
            <a:ext cx="3291840" cy="370332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Launch referral credits, seeded through Indian/Asian &amp; Eastern Cape users</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Kick off post-tournament sport documentary slot</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Stand up a monthly cohort-retention dashboard (CVM + Analytics)</a:t>
            </a:r>
            <a:endParaRPr lang="en-US" sz="1150" dirty="0"/>
          </a:p>
          <a:p>
            <a:pPr marL="342900" indent="-342900">
              <a:spcAft>
                <a:spcPts val="800"/>
              </a:spcAft>
              <a:buSzPct val="100000"/>
              <a:buChar char="•"/>
            </a:pPr>
            <a:r>
              <a:rPr lang="en-US" sz="1150" dirty="0">
                <a:solidFill>
                  <a:srgbClr val="2B3444"/>
                </a:solidFill>
                <a:latin typeface="Montserrat" pitchFamily="34" charset="0"/>
                <a:ea typeface="Montserrat" pitchFamily="34" charset="-122"/>
                <a:cs typeface="Montserrat" pitchFamily="34" charset="-120"/>
              </a:rPr>
              <a:t>Re-measure single-session rate — target below 40%</a:t>
            </a:r>
            <a:endParaRPr lang="en-US" sz="1150" dirty="0"/>
          </a:p>
        </p:txBody>
      </p:sp>
      <p:sp>
        <p:nvSpPr>
          <p:cNvPr id="20" name="Shape 18"/>
          <p:cNvSpPr/>
          <p:nvPr/>
        </p:nvSpPr>
        <p:spPr>
          <a:xfrm>
            <a:off x="457200" y="6492240"/>
            <a:ext cx="11247120" cy="0"/>
          </a:xfrm>
          <a:prstGeom prst="line">
            <a:avLst/>
          </a:prstGeom>
          <a:noFill/>
          <a:ln w="9525">
            <a:solidFill>
              <a:srgbClr val="E2E6EE"/>
            </a:solidFill>
            <a:prstDash val="solid"/>
          </a:ln>
        </p:spPr>
        <p:txBody>
          <a:bodyPr/>
          <a:lstStyle/>
          <a:p>
            <a:endParaRPr lang="en-ZA"/>
          </a:p>
        </p:txBody>
      </p:sp>
      <p:sp>
        <p:nvSpPr>
          <p:cNvPr id="21" name="Text 19"/>
          <p:cNvSpPr/>
          <p:nvPr/>
        </p:nvSpPr>
        <p:spPr>
          <a:xfrm>
            <a:off x="457200" y="6528816"/>
            <a:ext cx="7772400" cy="274320"/>
          </a:xfrm>
          <a:prstGeom prst="rect">
            <a:avLst/>
          </a:prstGeom>
          <a:noFill/>
          <a:ln/>
        </p:spPr>
        <p:txBody>
          <a:bodyPr wrap="square" rtlCol="0" anchor="ctr"/>
          <a:lstStyle/>
          <a:p>
            <a:pPr marL="0" indent="0">
              <a:buNone/>
            </a:pPr>
            <a:r>
              <a:rPr lang="en-US" sz="900" dirty="0">
                <a:solidFill>
                  <a:srgbClr val="64748B"/>
                </a:solidFill>
                <a:latin typeface="Montserrat" pitchFamily="34" charset="0"/>
                <a:ea typeface="Montserrat" pitchFamily="34" charset="-122"/>
                <a:cs typeface="Montserrat" pitchFamily="34" charset="-120"/>
              </a:rPr>
              <a:t>BrightTV  //  Viewership Analytics  //  Confidential</a:t>
            </a:r>
            <a:endParaRPr lang="en-US" sz="900" dirty="0"/>
          </a:p>
        </p:txBody>
      </p:sp>
      <p:sp>
        <p:nvSpPr>
          <p:cNvPr id="22" name="Text 20"/>
          <p:cNvSpPr/>
          <p:nvPr/>
        </p:nvSpPr>
        <p:spPr>
          <a:xfrm>
            <a:off x="8229600" y="6528816"/>
            <a:ext cx="2743200" cy="274320"/>
          </a:xfrm>
          <a:prstGeom prst="rect">
            <a:avLst/>
          </a:prstGeom>
          <a:noFill/>
          <a:ln/>
        </p:spPr>
        <p:txBody>
          <a:bodyPr wrap="square" rtlCol="0" anchor="ctr"/>
          <a:lstStyle/>
          <a:p>
            <a:pPr marL="0" indent="0" algn="r">
              <a:buNone/>
            </a:pPr>
            <a:r>
              <a:rPr lang="en-US" sz="900" dirty="0">
                <a:solidFill>
                  <a:srgbClr val="64748B"/>
                </a:solidFill>
                <a:latin typeface="Montserrat" pitchFamily="34" charset="0"/>
                <a:ea typeface="Montserrat" pitchFamily="34" charset="-122"/>
                <a:cs typeface="Montserrat" pitchFamily="34" charset="-120"/>
              </a:rPr>
              <a:t>Part 3  //  What we recommend</a:t>
            </a:r>
            <a:endParaRPr lang="en-US" sz="900" dirty="0"/>
          </a:p>
        </p:txBody>
      </p:sp>
      <p:sp>
        <p:nvSpPr>
          <p:cNvPr id="23" name="Text 21"/>
          <p:cNvSpPr/>
          <p:nvPr/>
        </p:nvSpPr>
        <p:spPr>
          <a:xfrm>
            <a:off x="11155680" y="6528816"/>
            <a:ext cx="548640" cy="274320"/>
          </a:xfrm>
          <a:prstGeom prst="rect">
            <a:avLst/>
          </a:prstGeom>
          <a:noFill/>
          <a:ln/>
        </p:spPr>
        <p:txBody>
          <a:bodyPr wrap="square" rtlCol="0" anchor="ctr"/>
          <a:lstStyle/>
          <a:p>
            <a:pPr marL="0" indent="0" algn="r">
              <a:buNone/>
            </a:pPr>
            <a:r>
              <a:rPr lang="en-US" sz="900" b="1" dirty="0">
                <a:solidFill>
                  <a:srgbClr val="64748B"/>
                </a:solidFill>
                <a:latin typeface="Montserrat" pitchFamily="34" charset="0"/>
                <a:ea typeface="Montserrat" pitchFamily="34" charset="-122"/>
                <a:cs typeface="Montserrat"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527"/>
        </a:solidFill>
        <a:effectLst/>
      </p:bgPr>
    </p:bg>
    <p:spTree>
      <p:nvGrpSpPr>
        <p:cNvPr id="1" name=""/>
        <p:cNvGrpSpPr/>
        <p:nvPr/>
      </p:nvGrpSpPr>
      <p:grpSpPr>
        <a:xfrm>
          <a:off x="0" y="0"/>
          <a:ext cx="0" cy="0"/>
          <a:chOff x="0" y="0"/>
          <a:chExt cx="0" cy="0"/>
        </a:xfrm>
      </p:grpSpPr>
      <p:sp>
        <p:nvSpPr>
          <p:cNvPr id="2" name="Shape 0"/>
          <p:cNvSpPr/>
          <p:nvPr/>
        </p:nvSpPr>
        <p:spPr>
          <a:xfrm>
            <a:off x="0" y="6217920"/>
            <a:ext cx="2011680" cy="640080"/>
          </a:xfrm>
          <a:prstGeom prst="rect">
            <a:avLst/>
          </a:prstGeom>
          <a:solidFill>
            <a:srgbClr val="F26B3A"/>
          </a:solidFill>
          <a:ln w="12700">
            <a:solidFill>
              <a:srgbClr val="F26B3A"/>
            </a:solidFill>
            <a:prstDash val="solid"/>
          </a:ln>
        </p:spPr>
        <p:txBody>
          <a:bodyPr/>
          <a:lstStyle/>
          <a:p>
            <a:endParaRPr lang="en-ZA"/>
          </a:p>
        </p:txBody>
      </p:sp>
      <p:sp>
        <p:nvSpPr>
          <p:cNvPr id="3" name="Shape 1"/>
          <p:cNvSpPr/>
          <p:nvPr/>
        </p:nvSpPr>
        <p:spPr>
          <a:xfrm>
            <a:off x="2011680" y="6492240"/>
            <a:ext cx="1097280" cy="365760"/>
          </a:xfrm>
          <a:prstGeom prst="rect">
            <a:avLst/>
          </a:prstGeom>
          <a:solidFill>
            <a:srgbClr val="E8B839"/>
          </a:solidFill>
          <a:ln w="12700">
            <a:solidFill>
              <a:srgbClr val="E8B839"/>
            </a:solidFill>
            <a:prstDash val="solid"/>
          </a:ln>
        </p:spPr>
        <p:txBody>
          <a:bodyPr/>
          <a:lstStyle/>
          <a:p>
            <a:endParaRPr lang="en-ZA"/>
          </a:p>
        </p:txBody>
      </p:sp>
      <p:sp>
        <p:nvSpPr>
          <p:cNvPr id="4" name="Text 2"/>
          <p:cNvSpPr/>
          <p:nvPr/>
        </p:nvSpPr>
        <p:spPr>
          <a:xfrm>
            <a:off x="640080" y="914400"/>
            <a:ext cx="9144000" cy="320040"/>
          </a:xfrm>
          <a:prstGeom prst="rect">
            <a:avLst/>
          </a:prstGeom>
          <a:noFill/>
          <a:ln/>
        </p:spPr>
        <p:txBody>
          <a:bodyPr wrap="square" rtlCol="0" anchor="ctr"/>
          <a:lstStyle/>
          <a:p>
            <a:pPr marL="0" indent="0">
              <a:buNone/>
            </a:pPr>
            <a:r>
              <a:rPr lang="en-US" sz="1100" b="1" kern="0" spc="600" dirty="0">
                <a:solidFill>
                  <a:srgbClr val="F26B3A"/>
                </a:solidFill>
                <a:latin typeface="Montserrat" pitchFamily="34" charset="0"/>
                <a:ea typeface="Montserrat" pitchFamily="34" charset="-122"/>
                <a:cs typeface="Montserrat" pitchFamily="34" charset="-120"/>
              </a:rPr>
              <a:t>IN SUMMARY</a:t>
            </a:r>
            <a:endParaRPr lang="en-US" sz="1100" dirty="0"/>
          </a:p>
        </p:txBody>
      </p:sp>
      <p:sp>
        <p:nvSpPr>
          <p:cNvPr id="5" name="Text 3"/>
          <p:cNvSpPr/>
          <p:nvPr/>
        </p:nvSpPr>
        <p:spPr>
          <a:xfrm>
            <a:off x="640080" y="1325880"/>
            <a:ext cx="11247120" cy="914400"/>
          </a:xfrm>
          <a:prstGeom prst="rect">
            <a:avLst/>
          </a:prstGeom>
          <a:noFill/>
          <a:ln/>
        </p:spPr>
        <p:txBody>
          <a:bodyPr wrap="square" lIns="0" tIns="0" rIns="0" bIns="0" rtlCol="0" anchor="ctr"/>
          <a:lstStyle/>
          <a:p>
            <a:pPr marL="0" indent="0">
              <a:buNone/>
            </a:pPr>
            <a:r>
              <a:rPr lang="en-US" sz="3600" b="1" dirty="0">
                <a:solidFill>
                  <a:srgbClr val="FFFFFF"/>
                </a:solidFill>
                <a:latin typeface="Montserrat" pitchFamily="34" charset="0"/>
                <a:ea typeface="Montserrat" pitchFamily="34" charset="-122"/>
                <a:cs typeface="Montserrat" pitchFamily="34" charset="-120"/>
              </a:rPr>
              <a:t>The growth is not in more acquisition.</a:t>
            </a:r>
            <a:endParaRPr lang="en-US" sz="3600" dirty="0"/>
          </a:p>
        </p:txBody>
      </p:sp>
      <p:sp>
        <p:nvSpPr>
          <p:cNvPr id="6" name="Text 4"/>
          <p:cNvSpPr/>
          <p:nvPr/>
        </p:nvSpPr>
        <p:spPr>
          <a:xfrm>
            <a:off x="640080" y="2148840"/>
            <a:ext cx="11247120" cy="640080"/>
          </a:xfrm>
          <a:prstGeom prst="rect">
            <a:avLst/>
          </a:prstGeom>
          <a:noFill/>
          <a:ln/>
        </p:spPr>
        <p:txBody>
          <a:bodyPr wrap="square" lIns="0" tIns="0" rIns="0" bIns="0" rtlCol="0" anchor="ctr"/>
          <a:lstStyle/>
          <a:p>
            <a:pPr marL="0" indent="0">
              <a:buNone/>
            </a:pPr>
            <a:r>
              <a:rPr lang="en-US" sz="2200" i="1" dirty="0">
                <a:solidFill>
                  <a:srgbClr val="E8B839"/>
                </a:solidFill>
                <a:latin typeface="Montserrat" pitchFamily="34" charset="0"/>
                <a:ea typeface="Montserrat" pitchFamily="34" charset="-122"/>
                <a:cs typeface="Montserrat" pitchFamily="34" charset="-120"/>
              </a:rPr>
              <a:t>It is in the 51% we already brought in and then lost.</a:t>
            </a:r>
            <a:endParaRPr lang="en-US" sz="2200" dirty="0"/>
          </a:p>
        </p:txBody>
      </p:sp>
      <p:sp>
        <p:nvSpPr>
          <p:cNvPr id="7" name="Shape 5"/>
          <p:cNvSpPr/>
          <p:nvPr/>
        </p:nvSpPr>
        <p:spPr>
          <a:xfrm>
            <a:off x="640080" y="3383280"/>
            <a:ext cx="365760" cy="0"/>
          </a:xfrm>
          <a:prstGeom prst="line">
            <a:avLst/>
          </a:prstGeom>
          <a:noFill/>
          <a:ln w="31750">
            <a:solidFill>
              <a:srgbClr val="F26B3A"/>
            </a:solidFill>
            <a:prstDash val="solid"/>
          </a:ln>
        </p:spPr>
        <p:txBody>
          <a:bodyPr/>
          <a:lstStyle/>
          <a:p>
            <a:endParaRPr lang="en-ZA"/>
          </a:p>
        </p:txBody>
      </p:sp>
      <p:sp>
        <p:nvSpPr>
          <p:cNvPr id="8" name="Text 6"/>
          <p:cNvSpPr/>
          <p:nvPr/>
        </p:nvSpPr>
        <p:spPr>
          <a:xfrm>
            <a:off x="1097280" y="3246120"/>
            <a:ext cx="5943600" cy="411480"/>
          </a:xfrm>
          <a:prstGeom prst="rect">
            <a:avLst/>
          </a:prstGeom>
          <a:noFill/>
          <a:ln/>
        </p:spPr>
        <p:txBody>
          <a:bodyPr wrap="square" lIns="0" tIns="0" rIns="0" bIns="0" rtlCol="0" anchor="ctr"/>
          <a:lstStyle/>
          <a:p>
            <a:pPr marL="0" indent="0">
              <a:buNone/>
            </a:pPr>
            <a:r>
              <a:rPr lang="en-US" sz="1600" b="1" dirty="0">
                <a:solidFill>
                  <a:srgbClr val="FFFFFF"/>
                </a:solidFill>
                <a:latin typeface="Montserrat" pitchFamily="34" charset="0"/>
                <a:ea typeface="Montserrat" pitchFamily="34" charset="-122"/>
                <a:cs typeface="Montserrat" pitchFamily="34" charset="-120"/>
              </a:rPr>
              <a:t>Fix the second session.</a:t>
            </a:r>
            <a:endParaRPr lang="en-US" sz="1600" dirty="0"/>
          </a:p>
        </p:txBody>
      </p:sp>
      <p:sp>
        <p:nvSpPr>
          <p:cNvPr id="9" name="Text 7"/>
          <p:cNvSpPr/>
          <p:nvPr/>
        </p:nvSpPr>
        <p:spPr>
          <a:xfrm>
            <a:off x="1097280" y="3611880"/>
            <a:ext cx="10515600" cy="365760"/>
          </a:xfrm>
          <a:prstGeom prst="rect">
            <a:avLst/>
          </a:prstGeom>
          <a:noFill/>
          <a:ln/>
        </p:spPr>
        <p:txBody>
          <a:bodyPr wrap="square" lIns="0" tIns="0" rIns="0" bIns="0" rtlCol="0" anchor="ctr"/>
          <a:lstStyle/>
          <a:p>
            <a:pPr marL="0" indent="0">
              <a:buNone/>
            </a:pPr>
            <a:r>
              <a:rPr lang="en-US" sz="1300" i="1" dirty="0">
                <a:solidFill>
                  <a:srgbClr val="9BA7BC"/>
                </a:solidFill>
                <a:latin typeface="Montserrat" pitchFamily="34" charset="0"/>
                <a:ea typeface="Montserrat" pitchFamily="34" charset="-122"/>
                <a:cs typeface="Montserrat" pitchFamily="34" charset="-120"/>
              </a:rPr>
              <a:t>Retention is the largest lever available to us this year.</a:t>
            </a:r>
            <a:endParaRPr lang="en-US" sz="1300" dirty="0"/>
          </a:p>
        </p:txBody>
      </p:sp>
      <p:sp>
        <p:nvSpPr>
          <p:cNvPr id="10" name="Shape 8"/>
          <p:cNvSpPr/>
          <p:nvPr/>
        </p:nvSpPr>
        <p:spPr>
          <a:xfrm>
            <a:off x="640080" y="4160520"/>
            <a:ext cx="365760" cy="0"/>
          </a:xfrm>
          <a:prstGeom prst="line">
            <a:avLst/>
          </a:prstGeom>
          <a:noFill/>
          <a:ln w="31750">
            <a:solidFill>
              <a:srgbClr val="F26B3A"/>
            </a:solidFill>
            <a:prstDash val="solid"/>
          </a:ln>
        </p:spPr>
        <p:txBody>
          <a:bodyPr/>
          <a:lstStyle/>
          <a:p>
            <a:endParaRPr lang="en-ZA"/>
          </a:p>
        </p:txBody>
      </p:sp>
      <p:sp>
        <p:nvSpPr>
          <p:cNvPr id="11" name="Text 9"/>
          <p:cNvSpPr/>
          <p:nvPr/>
        </p:nvSpPr>
        <p:spPr>
          <a:xfrm>
            <a:off x="1097280" y="4023360"/>
            <a:ext cx="5943600" cy="411480"/>
          </a:xfrm>
          <a:prstGeom prst="rect">
            <a:avLst/>
          </a:prstGeom>
          <a:noFill/>
          <a:ln/>
        </p:spPr>
        <p:txBody>
          <a:bodyPr wrap="square" lIns="0" tIns="0" rIns="0" bIns="0" rtlCol="0" anchor="ctr"/>
          <a:lstStyle/>
          <a:p>
            <a:pPr marL="0" indent="0">
              <a:buNone/>
            </a:pPr>
            <a:r>
              <a:rPr lang="en-US" sz="1600" b="1" dirty="0">
                <a:solidFill>
                  <a:srgbClr val="FFFFFF"/>
                </a:solidFill>
                <a:latin typeface="Montserrat" pitchFamily="34" charset="0"/>
                <a:ea typeface="Montserrat" pitchFamily="34" charset="-122"/>
                <a:cs typeface="Montserrat" pitchFamily="34" charset="-120"/>
              </a:rPr>
              <a:t>Widen the content aperture.</a:t>
            </a:r>
            <a:endParaRPr lang="en-US" sz="1600" dirty="0"/>
          </a:p>
        </p:txBody>
      </p:sp>
      <p:sp>
        <p:nvSpPr>
          <p:cNvPr id="12" name="Text 10"/>
          <p:cNvSpPr/>
          <p:nvPr/>
        </p:nvSpPr>
        <p:spPr>
          <a:xfrm>
            <a:off x="1097280" y="4389120"/>
            <a:ext cx="10515600" cy="365760"/>
          </a:xfrm>
          <a:prstGeom prst="rect">
            <a:avLst/>
          </a:prstGeom>
          <a:noFill/>
          <a:ln/>
        </p:spPr>
        <p:txBody>
          <a:bodyPr wrap="square" lIns="0" tIns="0" rIns="0" bIns="0" rtlCol="0" anchor="ctr"/>
          <a:lstStyle/>
          <a:p>
            <a:pPr marL="0" indent="0">
              <a:buNone/>
            </a:pPr>
            <a:r>
              <a:rPr lang="en-US" sz="1300" i="1" dirty="0">
                <a:solidFill>
                  <a:srgbClr val="9BA7BC"/>
                </a:solidFill>
                <a:latin typeface="Montserrat" pitchFamily="34" charset="0"/>
                <a:ea typeface="Montserrat" pitchFamily="34" charset="-122"/>
                <a:cs typeface="Montserrat" pitchFamily="34" charset="-120"/>
              </a:rPr>
              <a:t>Women, seniors and Sunday nights are unclaimed ground.</a:t>
            </a:r>
            <a:endParaRPr lang="en-US" sz="1300" dirty="0"/>
          </a:p>
        </p:txBody>
      </p:sp>
      <p:sp>
        <p:nvSpPr>
          <p:cNvPr id="13" name="Shape 11"/>
          <p:cNvSpPr/>
          <p:nvPr/>
        </p:nvSpPr>
        <p:spPr>
          <a:xfrm>
            <a:off x="640080" y="4937760"/>
            <a:ext cx="365760" cy="0"/>
          </a:xfrm>
          <a:prstGeom prst="line">
            <a:avLst/>
          </a:prstGeom>
          <a:noFill/>
          <a:ln w="31750">
            <a:solidFill>
              <a:srgbClr val="F26B3A"/>
            </a:solidFill>
            <a:prstDash val="solid"/>
          </a:ln>
        </p:spPr>
        <p:txBody>
          <a:bodyPr/>
          <a:lstStyle/>
          <a:p>
            <a:endParaRPr lang="en-ZA"/>
          </a:p>
        </p:txBody>
      </p:sp>
      <p:sp>
        <p:nvSpPr>
          <p:cNvPr id="14" name="Text 12"/>
          <p:cNvSpPr/>
          <p:nvPr/>
        </p:nvSpPr>
        <p:spPr>
          <a:xfrm>
            <a:off x="1097280" y="4800600"/>
            <a:ext cx="5943600" cy="411480"/>
          </a:xfrm>
          <a:prstGeom prst="rect">
            <a:avLst/>
          </a:prstGeom>
          <a:noFill/>
          <a:ln/>
        </p:spPr>
        <p:txBody>
          <a:bodyPr wrap="square" lIns="0" tIns="0" rIns="0" bIns="0" rtlCol="0" anchor="ctr"/>
          <a:lstStyle/>
          <a:p>
            <a:pPr marL="0" indent="0">
              <a:buNone/>
            </a:pPr>
            <a:r>
              <a:rPr lang="en-US" sz="1600" b="1" dirty="0">
                <a:solidFill>
                  <a:srgbClr val="FFFFFF"/>
                </a:solidFill>
                <a:latin typeface="Montserrat" pitchFamily="34" charset="0"/>
                <a:ea typeface="Montserrat" pitchFamily="34" charset="-122"/>
                <a:cs typeface="Montserrat" pitchFamily="34" charset="-120"/>
              </a:rPr>
              <a:t>Re-balance where we spend.</a:t>
            </a:r>
            <a:endParaRPr lang="en-US" sz="1600" dirty="0"/>
          </a:p>
        </p:txBody>
      </p:sp>
      <p:sp>
        <p:nvSpPr>
          <p:cNvPr id="15" name="Text 13"/>
          <p:cNvSpPr/>
          <p:nvPr/>
        </p:nvSpPr>
        <p:spPr>
          <a:xfrm>
            <a:off x="1097280" y="5166360"/>
            <a:ext cx="10515600" cy="365760"/>
          </a:xfrm>
          <a:prstGeom prst="rect">
            <a:avLst/>
          </a:prstGeom>
          <a:noFill/>
          <a:ln/>
        </p:spPr>
        <p:txBody>
          <a:bodyPr wrap="square" lIns="0" tIns="0" rIns="0" bIns="0" rtlCol="0" anchor="ctr"/>
          <a:lstStyle/>
          <a:p>
            <a:pPr marL="0" indent="0">
              <a:buNone/>
            </a:pPr>
            <a:r>
              <a:rPr lang="en-US" sz="1300" i="1" dirty="0">
                <a:solidFill>
                  <a:srgbClr val="9BA7BC"/>
                </a:solidFill>
                <a:latin typeface="Montserrat" pitchFamily="34" charset="0"/>
                <a:ea typeface="Montserrat" pitchFamily="34" charset="-122"/>
                <a:cs typeface="Montserrat" pitchFamily="34" charset="-120"/>
              </a:rPr>
              <a:t>The Cape provinces give us better viewers per rand than Gauteng does.</a:t>
            </a:r>
            <a:endParaRPr lang="en-US" sz="1300" dirty="0"/>
          </a:p>
        </p:txBody>
      </p:sp>
      <p:sp>
        <p:nvSpPr>
          <p:cNvPr id="16" name="Text 14"/>
          <p:cNvSpPr/>
          <p:nvPr/>
        </p:nvSpPr>
        <p:spPr>
          <a:xfrm>
            <a:off x="640080" y="5806440"/>
            <a:ext cx="10972800" cy="457200"/>
          </a:xfrm>
          <a:prstGeom prst="rect">
            <a:avLst/>
          </a:prstGeom>
          <a:noFill/>
          <a:ln/>
        </p:spPr>
        <p:txBody>
          <a:bodyPr wrap="square" lIns="0" tIns="0" rIns="0" bIns="0" rtlCol="0" anchor="ctr"/>
          <a:lstStyle/>
          <a:p>
            <a:pPr marL="0" indent="0">
              <a:buNone/>
            </a:pPr>
            <a:r>
              <a:rPr lang="en-US" sz="1800" b="1" dirty="0">
                <a:solidFill>
                  <a:srgbClr val="FFFFFF"/>
                </a:solidFill>
                <a:latin typeface="Montserrat" pitchFamily="34" charset="0"/>
                <a:ea typeface="Montserrat" pitchFamily="34" charset="-122"/>
                <a:cs typeface="Montserrat" pitchFamily="34" charset="-120"/>
              </a:rPr>
              <a:t>Thank you. Questions welcomed.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2085</Words>
  <Application>Microsoft Office PowerPoint</Application>
  <PresentationFormat>Widescreen</PresentationFormat>
  <Paragraphs>267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Georgia</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BrightTV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BrightTV Viewership Analytics</dc:title>
  <dc:subject>PptxGenJS Presentation</dc:subject>
  <dc:creator>Analytics</dc:creator>
  <cp:lastModifiedBy>Simba Mlilwana</cp:lastModifiedBy>
  <cp:revision>1</cp:revision>
  <dcterms:created xsi:type="dcterms:W3CDTF">2026-04-17T08:32:00Z</dcterms:created>
  <dcterms:modified xsi:type="dcterms:W3CDTF">2026-04-17T08:36:16Z</dcterms:modified>
</cp:coreProperties>
</file>